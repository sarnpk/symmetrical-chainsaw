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80000"/>
          </a:blip>
          <a:stretch>
            <a:fillRect/>
          </a:stretch>
        </p:blipFill>
        <p:spPr>
          <a:xfrm>
            <a:off x="0" y="0"/>
            <a:ext cx="9144000" cy="5143500"/>
          </a:xfrm>
          <a:prstGeom prst="rect">
            <a:avLst/>
          </a:prstGeom>
        </p:spPr>
      </p:pic>
      <p:sp>
        <p:nvSpPr>
          <p:cNvPr id="4" name="Text 0"/>
          <p:cNvSpPr/>
          <p:nvPr/>
        </p:nvSpPr>
        <p:spPr>
          <a:xfrm>
            <a:off x="1643063" y="1167333"/>
            <a:ext cx="5857875" cy="1320143"/>
          </a:xfrm>
          <a:prstGeom prst="rect">
            <a:avLst/>
          </a:prstGeom>
          <a:noFill/>
          <a:ln/>
        </p:spPr>
        <p:txBody>
          <a:bodyPr wrap="square" lIns="0" tIns="0" rIns="0" bIns="0" rtlCol="0" anchor="t">
            <a:spAutoFit/>
          </a:bodyPr>
          <a:lstStyle/>
          <a:p>
            <a:pPr algn="ctr" indent="0" marL="0">
              <a:lnSpc>
                <a:spcPts val="5200"/>
              </a:lnSpc>
              <a:buNone/>
            </a:pPr>
            <a:r>
              <a:rPr lang="en-US" sz="4353" b="1" spc="-1" kern="0" dirty="0">
                <a:solidFill>
                  <a:srgbClr val="FFFFFF"/>
                </a:solidFill>
              </a:rPr>
              <a:t>Discard Stage Survival Guide</a:t>
            </a:r>
            <a:endParaRPr lang="en-US" sz="4353" dirty="0"/>
          </a:p>
        </p:txBody>
      </p:sp>
      <p:sp>
        <p:nvSpPr>
          <p:cNvPr id="5" name="Text 1"/>
          <p:cNvSpPr/>
          <p:nvPr/>
        </p:nvSpPr>
        <p:spPr>
          <a:xfrm>
            <a:off x="1643063" y="2701789"/>
            <a:ext cx="5857875" cy="960053"/>
          </a:xfrm>
          <a:prstGeom prst="rect">
            <a:avLst/>
          </a:prstGeom>
          <a:noFill/>
          <a:ln/>
        </p:spPr>
        <p:txBody>
          <a:bodyPr wrap="square" lIns="0" tIns="0" rIns="0" bIns="0" rtlCol="0" anchor="t">
            <a:spAutoFit/>
          </a:bodyPr>
          <a:lstStyle/>
          <a:p>
            <a:pPr algn="ctr" indent="0" marL="0">
              <a:lnSpc>
                <a:spcPts val="2500"/>
              </a:lnSpc>
              <a:buNone/>
            </a:pPr>
            <a:r>
              <a:rPr lang="en-US" sz="1704" spc="2" kern="0" dirty="0">
                <a:solidFill>
                  <a:srgbClr val="D4AF37"/>
                </a:solidFill>
              </a:rPr>
              <a:t>Navigating Narcissistic Relationship Withdrawal with Strength and Self-Compassion</a:t>
            </a:r>
            <a:endParaRPr lang="en-US" sz="170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2743200" cy="5143500"/>
          </a:xfrm>
          <a:prstGeom prst="rect">
            <a:avLst/>
          </a:prstGeom>
          <a:solidFill>
            <a:srgbClr val="1A1A1A"/>
          </a:solidFill>
          <a:ln/>
        </p:spPr>
      </p:sp>
      <p:sp>
        <p:nvSpPr>
          <p:cNvPr id="4" name="Text 1"/>
          <p:cNvSpPr/>
          <p:nvPr/>
        </p:nvSpPr>
        <p:spPr>
          <a:xfrm>
            <a:off x="428625" y="1766125"/>
            <a:ext cx="1885950" cy="233958"/>
          </a:xfrm>
          <a:prstGeom prst="rect">
            <a:avLst/>
          </a:prstGeom>
          <a:noFill/>
          <a:ln/>
        </p:spPr>
        <p:txBody>
          <a:bodyPr wrap="none" lIns="0" tIns="0" rIns="0" bIns="0" rtlCol="0" anchor="t">
            <a:spAutoFit/>
          </a:bodyPr>
          <a:lstStyle/>
          <a:p>
            <a:pPr algn="l" indent="0" marL="0">
              <a:lnSpc>
                <a:spcPts val="1600"/>
              </a:lnSpc>
              <a:buNone/>
            </a:pPr>
            <a:r>
              <a:rPr lang="en-US" sz="1269" spc="3" kern="0" dirty="0">
                <a:solidFill>
                  <a:srgbClr val="D4AF37"/>
                </a:solidFill>
              </a:rPr>
              <a:t>Phase 01</a:t>
            </a:r>
            <a:endParaRPr lang="en-US" sz="1269" dirty="0"/>
          </a:p>
        </p:txBody>
      </p:sp>
      <p:sp>
        <p:nvSpPr>
          <p:cNvPr id="5" name="Text 2"/>
          <p:cNvSpPr/>
          <p:nvPr/>
        </p:nvSpPr>
        <p:spPr>
          <a:xfrm>
            <a:off x="428625" y="2142958"/>
            <a:ext cx="1885950" cy="1234390"/>
          </a:xfrm>
          <a:prstGeom prst="rect">
            <a:avLst/>
          </a:prstGeom>
          <a:noFill/>
          <a:ln/>
        </p:spPr>
        <p:txBody>
          <a:bodyPr wrap="square" lIns="0" tIns="0" rIns="0" bIns="0" rtlCol="0" anchor="t">
            <a:spAutoFit/>
          </a:bodyPr>
          <a:lstStyle/>
          <a:p>
            <a:pPr algn="l" indent="0" marL="0">
              <a:lnSpc>
                <a:spcPts val="3200"/>
              </a:lnSpc>
              <a:buNone/>
            </a:pPr>
            <a:r>
              <a:rPr lang="en-US" sz="2592" dirty="0">
                <a:solidFill>
                  <a:srgbClr val="FFFFFF"/>
                </a:solidFill>
              </a:rPr>
              <a:t>Understanding</a:t>
            </a:r>
            <a:pPr algn="l" indent="0" marL="0">
              <a:lnSpc>
                <a:spcPts val="3200"/>
              </a:lnSpc>
              <a:buNone/>
            </a:pPr>
            <a:r>
              <a:rPr lang="en-US" sz="2592" dirty="0">
                <a:solidFill>
                  <a:srgbClr val="FFFFFF"/>
                </a:solidFill>
              </a:rPr>
              <a:t>
</a:t>
            </a:r>
            <a:pPr algn="l" indent="0" marL="0">
              <a:lnSpc>
                <a:spcPts val="3200"/>
              </a:lnSpc>
              <a:buNone/>
            </a:pPr>
            <a:r>
              <a:rPr lang="en-US" sz="2592" dirty="0">
                <a:solidFill>
                  <a:srgbClr val="FFFFFF"/>
                </a:solidFill>
              </a:rPr>
              <a:t>The </a:t>
            </a:r>
            <a:pPr algn="l" indent="0" marL="0">
              <a:lnSpc>
                <a:spcPts val="3200"/>
              </a:lnSpc>
              <a:buNone/>
            </a:pPr>
            <a:r>
              <a:rPr lang="en-US" sz="2592" dirty="0">
                <a:solidFill>
                  <a:srgbClr val="FFFFFF"/>
                </a:solidFill>
              </a:rPr>
              <a:t>Discard</a:t>
            </a:r>
            <a:endParaRPr lang="en-US" sz="2592" dirty="0"/>
          </a:p>
        </p:txBody>
      </p:sp>
      <p:sp>
        <p:nvSpPr>
          <p:cNvPr id="6" name="Shape 3"/>
          <p:cNvSpPr/>
          <p:nvPr/>
        </p:nvSpPr>
        <p:spPr>
          <a:xfrm>
            <a:off x="2728913" y="514350"/>
            <a:ext cx="14288" cy="4114800"/>
          </a:xfrm>
          <a:prstGeom prst="rect">
            <a:avLst/>
          </a:prstGeom>
          <a:solidFill>
            <a:srgbClr val="D4AF37"/>
          </a:solidFill>
          <a:ln/>
        </p:spPr>
      </p:sp>
      <p:sp>
        <p:nvSpPr>
          <p:cNvPr id="7" name="Text 4"/>
          <p:cNvSpPr/>
          <p:nvPr/>
        </p:nvSpPr>
        <p:spPr>
          <a:xfrm>
            <a:off x="3314700" y="1038355"/>
            <a:ext cx="5257800" cy="720068"/>
          </a:xfrm>
          <a:prstGeom prst="rect">
            <a:avLst/>
          </a:prstGeom>
          <a:noFill/>
          <a:ln/>
        </p:spPr>
        <p:txBody>
          <a:bodyPr wrap="square" lIns="0" tIns="0" rIns="0" bIns="0" rtlCol="0" anchor="t">
            <a:spAutoFit/>
          </a:bodyPr>
          <a:lstStyle/>
          <a:p>
            <a:pPr algn="l" indent="0" marL="0">
              <a:lnSpc>
                <a:spcPts val="2800"/>
              </a:lnSpc>
              <a:buNone/>
            </a:pPr>
            <a:r>
              <a:rPr lang="en-US" sz="2121" b="1" dirty="0">
                <a:solidFill>
                  <a:srgbClr val="1A1A1A"/>
                </a:solidFill>
              </a:rPr>
              <a:t>The Discard Phase Reflects Their Inability, Not Your Worth</a:t>
            </a:r>
            <a:endParaRPr lang="en-US" sz="2121" dirty="0"/>
          </a:p>
        </p:txBody>
      </p:sp>
      <p:sp>
        <p:nvSpPr>
          <p:cNvPr id="8" name="Text 5"/>
          <p:cNvSpPr/>
          <p:nvPr/>
        </p:nvSpPr>
        <p:spPr>
          <a:xfrm>
            <a:off x="3314700" y="1972735"/>
            <a:ext cx="5257800" cy="685800"/>
          </a:xfrm>
          <a:prstGeom prst="rect">
            <a:avLst/>
          </a:prstGeom>
          <a:noFill/>
          <a:ln/>
        </p:spPr>
        <p:txBody>
          <a:bodyPr wrap="square" lIns="170053" tIns="0" rIns="0" bIns="0" rtlCol="0" anchor="t">
            <a:spAutoFit/>
          </a:bodyPr>
          <a:lstStyle/>
          <a:p>
            <a:pPr algn="l" indent="0" marL="0">
              <a:lnSpc>
                <a:spcPts val="1800"/>
              </a:lnSpc>
              <a:buNone/>
            </a:pPr>
            <a:r>
              <a:rPr lang="en-US" sz="1050" dirty="0">
                <a:solidFill>
                  <a:srgbClr val="333333"/>
                </a:solidFill>
              </a:rPr>
              <a:t>The discard phase occurs when a narcissist suddenly withdraws affection, attention, or the relationship itself. This behavior is a pattern rooted in their inability to maintain healthy relationships, not a reflection of your value.</a:t>
            </a:r>
            <a:endParaRPr lang="en-US" sz="1050" dirty="0"/>
          </a:p>
        </p:txBody>
      </p:sp>
      <p:sp>
        <p:nvSpPr>
          <p:cNvPr id="9" name="Text 6"/>
          <p:cNvSpPr/>
          <p:nvPr/>
        </p:nvSpPr>
        <p:spPr>
          <a:xfrm>
            <a:off x="3314700" y="2944285"/>
            <a:ext cx="5257800" cy="153591"/>
          </a:xfrm>
          <a:prstGeom prst="rect">
            <a:avLst/>
          </a:prstGeom>
          <a:noFill/>
          <a:ln/>
        </p:spPr>
        <p:txBody>
          <a:bodyPr wrap="none" lIns="0" tIns="0" rIns="0" bIns="0" rtlCol="0" anchor="t">
            <a:spAutoFit/>
          </a:bodyPr>
          <a:lstStyle/>
          <a:p>
            <a:pPr algn="l" indent="0" marL="0">
              <a:lnSpc>
                <a:spcPts val="1200"/>
              </a:lnSpc>
              <a:buNone/>
            </a:pPr>
            <a:r>
              <a:rPr lang="en-US" sz="942" dirty="0">
                <a:solidFill>
                  <a:srgbClr val="333333"/>
                </a:solidFill>
              </a:rPr>
              <a:t>Sudden emotional withdrawal without clear explanation</a:t>
            </a:r>
            <a:endParaRPr lang="en-US" sz="942" dirty="0"/>
          </a:p>
        </p:txBody>
      </p:sp>
      <p:sp>
        <p:nvSpPr>
          <p:cNvPr id="10" name="Text 7"/>
          <p:cNvSpPr/>
          <p:nvPr/>
        </p:nvSpPr>
        <p:spPr>
          <a:xfrm>
            <a:off x="3314700" y="3205032"/>
            <a:ext cx="5257800" cy="153591"/>
          </a:xfrm>
          <a:prstGeom prst="rect">
            <a:avLst/>
          </a:prstGeom>
          <a:noFill/>
          <a:ln/>
        </p:spPr>
        <p:txBody>
          <a:bodyPr wrap="none" lIns="0" tIns="0" rIns="0" bIns="0" rtlCol="0" anchor="t">
            <a:spAutoFit/>
          </a:bodyPr>
          <a:lstStyle/>
          <a:p>
            <a:pPr algn="l" indent="0" marL="0">
              <a:lnSpc>
                <a:spcPts val="1200"/>
              </a:lnSpc>
              <a:buNone/>
            </a:pPr>
            <a:r>
              <a:rPr lang="en-US" sz="942" dirty="0">
                <a:solidFill>
                  <a:srgbClr val="333333"/>
                </a:solidFill>
              </a:rPr>
              <a:t>Designed to create confusion and self-doubt</a:t>
            </a:r>
            <a:endParaRPr lang="en-US" sz="942" dirty="0"/>
          </a:p>
        </p:txBody>
      </p:sp>
      <p:sp>
        <p:nvSpPr>
          <p:cNvPr id="11" name="Text 8"/>
          <p:cNvSpPr/>
          <p:nvPr/>
        </p:nvSpPr>
        <p:spPr>
          <a:xfrm>
            <a:off x="3314700" y="3465779"/>
            <a:ext cx="5257800" cy="153591"/>
          </a:xfrm>
          <a:prstGeom prst="rect">
            <a:avLst/>
          </a:prstGeom>
          <a:noFill/>
          <a:ln/>
        </p:spPr>
        <p:txBody>
          <a:bodyPr wrap="none" lIns="0" tIns="0" rIns="0" bIns="0" rtlCol="0" anchor="t">
            <a:spAutoFit/>
          </a:bodyPr>
          <a:lstStyle/>
          <a:p>
            <a:pPr algn="l" indent="0" marL="0">
              <a:lnSpc>
                <a:spcPts val="1200"/>
              </a:lnSpc>
              <a:buNone/>
            </a:pPr>
            <a:r>
              <a:rPr lang="en-US" sz="942" dirty="0">
                <a:solidFill>
                  <a:srgbClr val="333333"/>
                </a:solidFill>
              </a:rPr>
              <a:t>Part of a larger cycle of idealization and devaluation</a:t>
            </a:r>
            <a:endParaRPr lang="en-US" sz="942" dirty="0"/>
          </a:p>
        </p:txBody>
      </p:sp>
      <p:sp>
        <p:nvSpPr>
          <p:cNvPr id="12" name="Text 9"/>
          <p:cNvSpPr/>
          <p:nvPr/>
        </p:nvSpPr>
        <p:spPr>
          <a:xfrm>
            <a:off x="3314700" y="3726526"/>
            <a:ext cx="5257800" cy="153591"/>
          </a:xfrm>
          <a:prstGeom prst="rect">
            <a:avLst/>
          </a:prstGeom>
          <a:noFill/>
          <a:ln/>
        </p:spPr>
        <p:txBody>
          <a:bodyPr wrap="none" lIns="0" tIns="0" rIns="0" bIns="0" rtlCol="0" anchor="t">
            <a:spAutoFit/>
          </a:bodyPr>
          <a:lstStyle/>
          <a:p>
            <a:pPr algn="l" indent="0" marL="0">
              <a:lnSpc>
                <a:spcPts val="1200"/>
              </a:lnSpc>
              <a:buNone/>
            </a:pPr>
            <a:r>
              <a:rPr lang="en-US" sz="942" dirty="0">
                <a:solidFill>
                  <a:srgbClr val="333333"/>
                </a:solidFill>
              </a:rPr>
              <a:t>Reflects the narcissist's emotional limitations, not your shortcomings</a:t>
            </a:r>
            <a:endParaRPr lang="en-US" sz="942" dirty="0"/>
          </a:p>
        </p:txBody>
      </p:sp>
      <p:sp>
        <p:nvSpPr>
          <p:cNvPr id="13" name="Text 10"/>
          <p:cNvSpPr/>
          <p:nvPr/>
        </p:nvSpPr>
        <p:spPr>
          <a:xfrm>
            <a:off x="3314700" y="3987273"/>
            <a:ext cx="5257800" cy="153591"/>
          </a:xfrm>
          <a:prstGeom prst="rect">
            <a:avLst/>
          </a:prstGeom>
          <a:noFill/>
          <a:ln/>
        </p:spPr>
        <p:txBody>
          <a:bodyPr wrap="none" lIns="0" tIns="0" rIns="0" bIns="0" rtlCol="0" anchor="t">
            <a:spAutoFit/>
          </a:bodyPr>
          <a:lstStyle/>
          <a:p>
            <a:pPr algn="l" indent="0" marL="0">
              <a:lnSpc>
                <a:spcPts val="1200"/>
              </a:lnSpc>
              <a:buNone/>
            </a:pPr>
            <a:r>
              <a:rPr lang="en-US" sz="942" dirty="0">
                <a:solidFill>
                  <a:srgbClr val="333333"/>
                </a:solidFill>
              </a:rPr>
              <a:t>Understanding this pattern is the first step toward healing</a:t>
            </a:r>
            <a:endParaRPr lang="en-US" sz="94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428625"/>
            <a:ext cx="8001000" cy="1328738"/>
          </a:xfrm>
          <a:prstGeom prst="rect">
            <a:avLst/>
          </a:prstGeom>
          <a:solidFill>
            <a:srgbClr val="000000">
              <a:alpha val="0"/>
            </a:srgbClr>
          </a:solidFill>
          <a:ln/>
        </p:spPr>
      </p:sp>
      <p:sp>
        <p:nvSpPr>
          <p:cNvPr id="4" name="Shape 1"/>
          <p:cNvSpPr/>
          <p:nvPr/>
        </p:nvSpPr>
        <p:spPr>
          <a:xfrm>
            <a:off x="571500" y="1750219"/>
            <a:ext cx="8001000" cy="7144"/>
          </a:xfrm>
          <a:prstGeom prst="rect">
            <a:avLst/>
          </a:prstGeom>
          <a:solidFill>
            <a:srgbClr val="333333"/>
          </a:solidFill>
          <a:ln/>
        </p:spPr>
      </p:sp>
      <p:sp>
        <p:nvSpPr>
          <p:cNvPr id="5" name="Text 2"/>
          <p:cNvSpPr/>
          <p:nvPr/>
        </p:nvSpPr>
        <p:spPr>
          <a:xfrm>
            <a:off x="571500" y="428625"/>
            <a:ext cx="5715000" cy="175022"/>
          </a:xfrm>
          <a:prstGeom prst="rect">
            <a:avLst/>
          </a:prstGeom>
          <a:noFill/>
          <a:ln/>
        </p:spPr>
        <p:txBody>
          <a:bodyPr wrap="none" lIns="0" tIns="0" rIns="0" bIns="0" rtlCol="0" anchor="t">
            <a:spAutoFit/>
          </a:bodyPr>
          <a:lstStyle/>
          <a:p>
            <a:pPr algn="l" indent="0" marL="0">
              <a:lnSpc>
                <a:spcPts val="1200"/>
              </a:lnSpc>
              <a:buNone/>
            </a:pPr>
            <a:r>
              <a:rPr lang="en-US" sz="942" spc="2" kern="0" dirty="0">
                <a:solidFill>
                  <a:srgbClr val="D4AF37"/>
                </a:solidFill>
              </a:rPr>
              <a:t>Warning Signs</a:t>
            </a:r>
            <a:endParaRPr lang="en-US" sz="942" dirty="0"/>
          </a:p>
        </p:txBody>
      </p:sp>
      <p:sp>
        <p:nvSpPr>
          <p:cNvPr id="6" name="Text 3"/>
          <p:cNvSpPr/>
          <p:nvPr/>
        </p:nvSpPr>
        <p:spPr>
          <a:xfrm>
            <a:off x="571500" y="675084"/>
            <a:ext cx="5715000" cy="932259"/>
          </a:xfrm>
          <a:prstGeom prst="rect">
            <a:avLst/>
          </a:prstGeom>
          <a:noFill/>
          <a:ln/>
        </p:spPr>
        <p:txBody>
          <a:bodyPr wrap="square" lIns="0" tIns="0" rIns="0" bIns="0" rtlCol="0" anchor="t">
            <a:spAutoFit/>
          </a:bodyPr>
          <a:lstStyle/>
          <a:p>
            <a:pPr algn="l" indent="0" marL="0">
              <a:lnSpc>
                <a:spcPts val="3200"/>
              </a:lnSpc>
              <a:buNone/>
            </a:pPr>
            <a:r>
              <a:rPr lang="en-US" sz="2592" dirty="0">
                <a:solidFill>
                  <a:srgbClr val="FFFFFF"/>
                </a:solidFill>
              </a:rPr>
              <a:t>Seven Behaviors That Signal Narcissistic Discard</a:t>
            </a:r>
            <a:endParaRPr lang="en-US" sz="2592" dirty="0"/>
          </a:p>
        </p:txBody>
      </p:sp>
      <p:sp>
        <p:nvSpPr>
          <p:cNvPr id="7" name="Text 4"/>
          <p:cNvSpPr/>
          <p:nvPr/>
        </p:nvSpPr>
        <p:spPr>
          <a:xfrm>
            <a:off x="571500" y="2107406"/>
            <a:ext cx="2381241" cy="233958"/>
          </a:xfrm>
          <a:prstGeom prst="rect">
            <a:avLst/>
          </a:prstGeom>
          <a:noFill/>
          <a:ln/>
        </p:spPr>
        <p:txBody>
          <a:bodyPr wrap="none" lIns="127508" tIns="0" rIns="0" bIns="0" rtlCol="0" anchor="t">
            <a:spAutoFit/>
          </a:bodyPr>
          <a:lstStyle/>
          <a:p>
            <a:pPr algn="l" indent="0" marL="0">
              <a:lnSpc>
                <a:spcPts val="1600"/>
              </a:lnSpc>
              <a:buNone/>
            </a:pPr>
            <a:r>
              <a:rPr lang="en-US" sz="1269" dirty="0">
                <a:solidFill>
                  <a:srgbClr val="D4AF37"/>
                </a:solidFill>
              </a:rPr>
              <a:t>Silent Treatment</a:t>
            </a:r>
            <a:endParaRPr lang="en-US" sz="1269" dirty="0"/>
          </a:p>
        </p:txBody>
      </p:sp>
      <p:sp>
        <p:nvSpPr>
          <p:cNvPr id="8" name="Text 5"/>
          <p:cNvSpPr/>
          <p:nvPr/>
        </p:nvSpPr>
        <p:spPr>
          <a:xfrm>
            <a:off x="571500" y="2412802"/>
            <a:ext cx="2381241" cy="514350"/>
          </a:xfrm>
          <a:prstGeom prst="rect">
            <a:avLst/>
          </a:prstGeom>
          <a:noFill/>
          <a:ln/>
        </p:spPr>
        <p:txBody>
          <a:bodyPr wrap="square" lIns="144526" tIns="0" rIns="0" bIns="0" rtlCol="0" anchor="t">
            <a:spAutoFit/>
          </a:bodyPr>
          <a:lstStyle/>
          <a:p>
            <a:pPr algn="l" indent="0" marL="0">
              <a:lnSpc>
                <a:spcPts val="1400"/>
              </a:lnSpc>
              <a:buNone/>
            </a:pPr>
            <a:r>
              <a:rPr lang="en-US" sz="834" dirty="0">
                <a:solidFill>
                  <a:srgbClr val="CCCCCC"/>
                </a:solidFill>
              </a:rPr>
              <a:t>Days or weeks of complete communication shutdown designed to punish.</a:t>
            </a:r>
            <a:endParaRPr lang="en-US" sz="834" dirty="0"/>
          </a:p>
        </p:txBody>
      </p:sp>
      <p:sp>
        <p:nvSpPr>
          <p:cNvPr id="9" name="Text 6"/>
          <p:cNvSpPr/>
          <p:nvPr/>
        </p:nvSpPr>
        <p:spPr>
          <a:xfrm>
            <a:off x="3381366" y="2107406"/>
            <a:ext cx="2381241" cy="233958"/>
          </a:xfrm>
          <a:prstGeom prst="rect">
            <a:avLst/>
          </a:prstGeom>
          <a:noFill/>
          <a:ln/>
        </p:spPr>
        <p:txBody>
          <a:bodyPr wrap="none" lIns="127508" tIns="0" rIns="0" bIns="0" rtlCol="0" anchor="t">
            <a:spAutoFit/>
          </a:bodyPr>
          <a:lstStyle/>
          <a:p>
            <a:pPr algn="l" indent="0" marL="0">
              <a:lnSpc>
                <a:spcPts val="1600"/>
              </a:lnSpc>
              <a:buNone/>
            </a:pPr>
            <a:r>
              <a:rPr lang="en-US" sz="1269" dirty="0">
                <a:solidFill>
                  <a:srgbClr val="D4AF37"/>
                </a:solidFill>
              </a:rPr>
              <a:t>Cruel Dismissiveness</a:t>
            </a:r>
            <a:endParaRPr lang="en-US" sz="1269" dirty="0"/>
          </a:p>
        </p:txBody>
      </p:sp>
      <p:sp>
        <p:nvSpPr>
          <p:cNvPr id="10" name="Text 7"/>
          <p:cNvSpPr/>
          <p:nvPr/>
        </p:nvSpPr>
        <p:spPr>
          <a:xfrm>
            <a:off x="3381366" y="2412802"/>
            <a:ext cx="2381241" cy="342900"/>
          </a:xfrm>
          <a:prstGeom prst="rect">
            <a:avLst/>
          </a:prstGeom>
          <a:noFill/>
          <a:ln/>
        </p:spPr>
        <p:txBody>
          <a:bodyPr wrap="square" lIns="144526" tIns="0" rIns="0" bIns="0" rtlCol="0" anchor="t">
            <a:spAutoFit/>
          </a:bodyPr>
          <a:lstStyle/>
          <a:p>
            <a:pPr algn="l" indent="0" marL="0">
              <a:lnSpc>
                <a:spcPts val="1400"/>
              </a:lnSpc>
              <a:buNone/>
            </a:pPr>
            <a:r>
              <a:rPr lang="en-US" sz="834" dirty="0">
                <a:solidFill>
                  <a:srgbClr val="CCCCCC"/>
                </a:solidFill>
              </a:rPr>
              <a:t>Hurtful comments that minimize your feelings and reality.</a:t>
            </a:r>
            <a:endParaRPr lang="en-US" sz="834" dirty="0"/>
          </a:p>
        </p:txBody>
      </p:sp>
      <p:sp>
        <p:nvSpPr>
          <p:cNvPr id="11" name="Text 8"/>
          <p:cNvSpPr/>
          <p:nvPr/>
        </p:nvSpPr>
        <p:spPr>
          <a:xfrm>
            <a:off x="6191231" y="2107406"/>
            <a:ext cx="2381269" cy="233958"/>
          </a:xfrm>
          <a:prstGeom prst="rect">
            <a:avLst/>
          </a:prstGeom>
          <a:noFill/>
          <a:ln/>
        </p:spPr>
        <p:txBody>
          <a:bodyPr wrap="none" lIns="127508" tIns="0" rIns="0" bIns="0" rtlCol="0" anchor="t">
            <a:spAutoFit/>
          </a:bodyPr>
          <a:lstStyle/>
          <a:p>
            <a:pPr algn="l" indent="0" marL="0">
              <a:lnSpc>
                <a:spcPts val="1600"/>
              </a:lnSpc>
              <a:buNone/>
            </a:pPr>
            <a:r>
              <a:rPr lang="en-US" sz="1269" dirty="0">
                <a:solidFill>
                  <a:srgbClr val="D4AF37"/>
                </a:solidFill>
              </a:rPr>
              <a:t>Unfair Comparisons</a:t>
            </a:r>
            <a:endParaRPr lang="en-US" sz="1269" dirty="0"/>
          </a:p>
        </p:txBody>
      </p:sp>
      <p:sp>
        <p:nvSpPr>
          <p:cNvPr id="12" name="Text 9"/>
          <p:cNvSpPr/>
          <p:nvPr/>
        </p:nvSpPr>
        <p:spPr>
          <a:xfrm>
            <a:off x="6191231" y="2412802"/>
            <a:ext cx="2381269" cy="342900"/>
          </a:xfrm>
          <a:prstGeom prst="rect">
            <a:avLst/>
          </a:prstGeom>
          <a:noFill/>
          <a:ln/>
        </p:spPr>
        <p:txBody>
          <a:bodyPr wrap="square" lIns="144526" tIns="0" rIns="0" bIns="0" rtlCol="0" anchor="t">
            <a:spAutoFit/>
          </a:bodyPr>
          <a:lstStyle/>
          <a:p>
            <a:pPr algn="l" indent="0" marL="0">
              <a:lnSpc>
                <a:spcPts val="1400"/>
              </a:lnSpc>
              <a:buNone/>
            </a:pPr>
            <a:r>
              <a:rPr lang="en-US" sz="834" dirty="0">
                <a:solidFill>
                  <a:srgbClr val="CCCCCC"/>
                </a:solidFill>
              </a:rPr>
              <a:t>Comparing you negatively to others to induce insecurity.</a:t>
            </a:r>
            <a:endParaRPr lang="en-US" sz="834" dirty="0"/>
          </a:p>
        </p:txBody>
      </p:sp>
      <p:sp>
        <p:nvSpPr>
          <p:cNvPr id="13" name="Text 10"/>
          <p:cNvSpPr/>
          <p:nvPr/>
        </p:nvSpPr>
        <p:spPr>
          <a:xfrm>
            <a:off x="571500" y="3250406"/>
            <a:ext cx="2381241" cy="233958"/>
          </a:xfrm>
          <a:prstGeom prst="rect">
            <a:avLst/>
          </a:prstGeom>
          <a:noFill/>
          <a:ln/>
        </p:spPr>
        <p:txBody>
          <a:bodyPr wrap="none" lIns="127508" tIns="0" rIns="0" bIns="0" rtlCol="0" anchor="t">
            <a:spAutoFit/>
          </a:bodyPr>
          <a:lstStyle/>
          <a:p>
            <a:pPr algn="l" indent="0" marL="0">
              <a:lnSpc>
                <a:spcPts val="1600"/>
              </a:lnSpc>
              <a:buNone/>
            </a:pPr>
            <a:r>
              <a:rPr lang="en-US" sz="1269" dirty="0">
                <a:solidFill>
                  <a:srgbClr val="D4AF37"/>
                </a:solidFill>
              </a:rPr>
              <a:t>Threats of Abandonment</a:t>
            </a:r>
            <a:endParaRPr lang="en-US" sz="1269" dirty="0"/>
          </a:p>
        </p:txBody>
      </p:sp>
      <p:sp>
        <p:nvSpPr>
          <p:cNvPr id="14" name="Text 11"/>
          <p:cNvSpPr/>
          <p:nvPr/>
        </p:nvSpPr>
        <p:spPr>
          <a:xfrm>
            <a:off x="571500" y="3555802"/>
            <a:ext cx="2381241" cy="342900"/>
          </a:xfrm>
          <a:prstGeom prst="rect">
            <a:avLst/>
          </a:prstGeom>
          <a:noFill/>
          <a:ln/>
        </p:spPr>
        <p:txBody>
          <a:bodyPr wrap="square" lIns="144526" tIns="0" rIns="0" bIns="0" rtlCol="0" anchor="t">
            <a:spAutoFit/>
          </a:bodyPr>
          <a:lstStyle/>
          <a:p>
            <a:pPr algn="l" indent="0" marL="0">
              <a:lnSpc>
                <a:spcPts val="1400"/>
              </a:lnSpc>
              <a:buNone/>
            </a:pPr>
            <a:r>
              <a:rPr lang="en-US" sz="834" dirty="0">
                <a:solidFill>
                  <a:srgbClr val="CCCCCC"/>
                </a:solidFill>
              </a:rPr>
              <a:t>Repeatedly threatening to leave the relationship to foster fear.</a:t>
            </a:r>
            <a:endParaRPr lang="en-US" sz="834" dirty="0"/>
          </a:p>
        </p:txBody>
      </p:sp>
      <p:sp>
        <p:nvSpPr>
          <p:cNvPr id="15" name="Text 12"/>
          <p:cNvSpPr/>
          <p:nvPr/>
        </p:nvSpPr>
        <p:spPr>
          <a:xfrm>
            <a:off x="3381366" y="3250406"/>
            <a:ext cx="2381241" cy="233958"/>
          </a:xfrm>
          <a:prstGeom prst="rect">
            <a:avLst/>
          </a:prstGeom>
          <a:noFill/>
          <a:ln/>
        </p:spPr>
        <p:txBody>
          <a:bodyPr wrap="none" lIns="127508" tIns="0" rIns="0" bIns="0" rtlCol="0" anchor="t">
            <a:spAutoFit/>
          </a:bodyPr>
          <a:lstStyle/>
          <a:p>
            <a:pPr algn="l" indent="0" marL="0">
              <a:lnSpc>
                <a:spcPts val="1600"/>
              </a:lnSpc>
              <a:buNone/>
            </a:pPr>
            <a:r>
              <a:rPr lang="en-US" sz="1269" dirty="0">
                <a:solidFill>
                  <a:srgbClr val="D4AF37"/>
                </a:solidFill>
              </a:rPr>
              <a:t>Emotional Invisibility</a:t>
            </a:r>
            <a:endParaRPr lang="en-US" sz="1269" dirty="0"/>
          </a:p>
        </p:txBody>
      </p:sp>
      <p:sp>
        <p:nvSpPr>
          <p:cNvPr id="16" name="Text 13"/>
          <p:cNvSpPr/>
          <p:nvPr/>
        </p:nvSpPr>
        <p:spPr>
          <a:xfrm>
            <a:off x="3381366" y="3555802"/>
            <a:ext cx="2381241" cy="342900"/>
          </a:xfrm>
          <a:prstGeom prst="rect">
            <a:avLst/>
          </a:prstGeom>
          <a:noFill/>
          <a:ln/>
        </p:spPr>
        <p:txBody>
          <a:bodyPr wrap="square" lIns="144526" tIns="0" rIns="0" bIns="0" rtlCol="0" anchor="t">
            <a:spAutoFit/>
          </a:bodyPr>
          <a:lstStyle/>
          <a:p>
            <a:pPr algn="l" indent="0" marL="0">
              <a:lnSpc>
                <a:spcPts val="1400"/>
              </a:lnSpc>
              <a:buNone/>
            </a:pPr>
            <a:r>
              <a:rPr lang="en-US" sz="834" dirty="0">
                <a:solidFill>
                  <a:srgbClr val="CCCCCC"/>
                </a:solidFill>
              </a:rPr>
              <a:t>Acting as if you don't exist or matter in their presence.</a:t>
            </a:r>
            <a:endParaRPr lang="en-US" sz="834" dirty="0"/>
          </a:p>
        </p:txBody>
      </p:sp>
      <p:sp>
        <p:nvSpPr>
          <p:cNvPr id="17" name="Text 14"/>
          <p:cNvSpPr/>
          <p:nvPr/>
        </p:nvSpPr>
        <p:spPr>
          <a:xfrm>
            <a:off x="6191231" y="3250406"/>
            <a:ext cx="2381269" cy="233958"/>
          </a:xfrm>
          <a:prstGeom prst="rect">
            <a:avLst/>
          </a:prstGeom>
          <a:noFill/>
          <a:ln/>
        </p:spPr>
        <p:txBody>
          <a:bodyPr wrap="none" lIns="127508" tIns="0" rIns="0" bIns="0" rtlCol="0" anchor="t">
            <a:spAutoFit/>
          </a:bodyPr>
          <a:lstStyle/>
          <a:p>
            <a:pPr algn="l" indent="0" marL="0">
              <a:lnSpc>
                <a:spcPts val="1600"/>
              </a:lnSpc>
              <a:buNone/>
            </a:pPr>
            <a:r>
              <a:rPr lang="en-US" sz="1269" dirty="0">
                <a:solidFill>
                  <a:srgbClr val="D4AF37"/>
                </a:solidFill>
              </a:rPr>
              <a:t>Withholding Affection</a:t>
            </a:r>
            <a:endParaRPr lang="en-US" sz="1269" dirty="0"/>
          </a:p>
        </p:txBody>
      </p:sp>
      <p:sp>
        <p:nvSpPr>
          <p:cNvPr id="18" name="Text 15"/>
          <p:cNvSpPr/>
          <p:nvPr/>
        </p:nvSpPr>
        <p:spPr>
          <a:xfrm>
            <a:off x="6191231" y="3555802"/>
            <a:ext cx="2381269" cy="342900"/>
          </a:xfrm>
          <a:prstGeom prst="rect">
            <a:avLst/>
          </a:prstGeom>
          <a:noFill/>
          <a:ln/>
        </p:spPr>
        <p:txBody>
          <a:bodyPr wrap="square" lIns="144526" tIns="0" rIns="0" bIns="0" rtlCol="0" anchor="t">
            <a:spAutoFit/>
          </a:bodyPr>
          <a:lstStyle/>
          <a:p>
            <a:pPr algn="l" indent="0" marL="0">
              <a:lnSpc>
                <a:spcPts val="1400"/>
              </a:lnSpc>
              <a:buNone/>
            </a:pPr>
            <a:r>
              <a:rPr lang="en-US" sz="834" dirty="0">
                <a:solidFill>
                  <a:srgbClr val="CCCCCC"/>
                </a:solidFill>
              </a:rPr>
              <a:t>Deliberate withdrawal of intimacy and care as a control tactic.</a:t>
            </a:r>
            <a:endParaRPr lang="en-US" sz="834" dirty="0"/>
          </a:p>
        </p:txBody>
      </p:sp>
      <p:sp>
        <p:nvSpPr>
          <p:cNvPr id="19" name="Text 16"/>
          <p:cNvSpPr/>
          <p:nvPr/>
        </p:nvSpPr>
        <p:spPr>
          <a:xfrm>
            <a:off x="571500" y="4462165"/>
            <a:ext cx="1508308" cy="233958"/>
          </a:xfrm>
          <a:prstGeom prst="rect">
            <a:avLst/>
          </a:prstGeom>
          <a:noFill/>
          <a:ln/>
        </p:spPr>
        <p:txBody>
          <a:bodyPr wrap="none" lIns="127508" tIns="0" rIns="0" bIns="0" rtlCol="0" anchor="t">
            <a:spAutoFit/>
          </a:bodyPr>
          <a:lstStyle/>
          <a:p>
            <a:pPr algn="l" indent="0" marL="0">
              <a:lnSpc>
                <a:spcPts val="1600"/>
              </a:lnSpc>
              <a:buNone/>
            </a:pPr>
            <a:r>
              <a:rPr lang="en-US" sz="1269" dirty="0">
                <a:solidFill>
                  <a:srgbClr val="D4AF37"/>
                </a:solidFill>
              </a:rPr>
              <a:t>Sudden Coldness</a:t>
            </a:r>
            <a:endParaRPr lang="en-US" sz="1269" dirty="0"/>
          </a:p>
        </p:txBody>
      </p:sp>
      <p:sp>
        <p:nvSpPr>
          <p:cNvPr id="20" name="Text 17"/>
          <p:cNvSpPr/>
          <p:nvPr/>
        </p:nvSpPr>
        <p:spPr>
          <a:xfrm>
            <a:off x="2222683" y="4493419"/>
            <a:ext cx="3159044"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CCCCCC"/>
                </a:solidFill>
              </a:rPr>
              <a:t>Abrupt shift from warmth to hostility without logical cause.</a:t>
            </a:r>
            <a:endParaRPr lang="en-US" sz="83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7409492" y="1609130"/>
            <a:ext cx="2091696" cy="3891558"/>
          </a:xfrm>
          <a:prstGeom prst="rect">
            <a:avLst/>
          </a:prstGeom>
          <a:noFill/>
          <a:ln/>
        </p:spPr>
        <p:txBody>
          <a:bodyPr wrap="none" lIns="0" tIns="0" rIns="0" bIns="0" rtlCol="0" anchor="t">
            <a:spAutoFit/>
          </a:bodyPr>
          <a:lstStyle/>
          <a:p>
            <a:pPr algn="l" indent="0" marL="0">
              <a:lnSpc>
                <a:spcPts val="27000"/>
              </a:lnSpc>
              <a:buNone/>
            </a:pPr>
            <a:r>
              <a:rPr lang="en-US" sz="22050" dirty="0">
                <a:solidFill>
                  <a:srgbClr val="F5F5F5">
                    <a:alpha val="50000"/>
                  </a:srgbClr>
                </a:solidFill>
              </a:rPr>
              <a:t>&amp;</a:t>
            </a:r>
            <a:endParaRPr lang="en-US" sz="22050" dirty="0"/>
          </a:p>
        </p:txBody>
      </p:sp>
      <p:sp>
        <p:nvSpPr>
          <p:cNvPr id="4" name="Shape 1"/>
          <p:cNvSpPr/>
          <p:nvPr/>
        </p:nvSpPr>
        <p:spPr>
          <a:xfrm>
            <a:off x="571500" y="428625"/>
            <a:ext cx="8001000" cy="981149"/>
          </a:xfrm>
          <a:prstGeom prst="rect">
            <a:avLst/>
          </a:prstGeom>
          <a:solidFill>
            <a:srgbClr val="000000">
              <a:alpha val="0"/>
            </a:srgbClr>
          </a:solidFill>
          <a:ln/>
        </p:spPr>
      </p:sp>
      <p:sp>
        <p:nvSpPr>
          <p:cNvPr id="5" name="Shape 2"/>
          <p:cNvSpPr/>
          <p:nvPr/>
        </p:nvSpPr>
        <p:spPr>
          <a:xfrm>
            <a:off x="571500" y="428625"/>
            <a:ext cx="28575" cy="981149"/>
          </a:xfrm>
          <a:prstGeom prst="rect">
            <a:avLst/>
          </a:prstGeom>
          <a:solidFill>
            <a:srgbClr val="D4AF37"/>
          </a:solidFill>
          <a:ln/>
        </p:spPr>
      </p:sp>
      <p:sp>
        <p:nvSpPr>
          <p:cNvPr id="6" name="Text 3"/>
          <p:cNvSpPr/>
          <p:nvPr/>
        </p:nvSpPr>
        <p:spPr>
          <a:xfrm>
            <a:off x="785813" y="428625"/>
            <a:ext cx="7786688" cy="15537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4AF37"/>
                </a:solidFill>
              </a:rPr>
              <a:t>Protective Strategy</a:t>
            </a:r>
            <a:endParaRPr lang="en-US" sz="784" dirty="0"/>
          </a:p>
        </p:txBody>
      </p:sp>
      <p:sp>
        <p:nvSpPr>
          <p:cNvPr id="7" name="Text 4"/>
          <p:cNvSpPr/>
          <p:nvPr/>
        </p:nvSpPr>
        <p:spPr>
          <a:xfrm>
            <a:off x="785813" y="655439"/>
            <a:ext cx="7786688"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1A1A1A"/>
                </a:solidFill>
              </a:rPr>
              <a:t>Protect Your Dignity by Avoiding These Reactions</a:t>
            </a:r>
            <a:endParaRPr lang="en-US" sz="2436" dirty="0"/>
          </a:p>
        </p:txBody>
      </p:sp>
      <p:sp>
        <p:nvSpPr>
          <p:cNvPr id="8" name="Text 5"/>
          <p:cNvSpPr/>
          <p:nvPr/>
        </p:nvSpPr>
        <p:spPr>
          <a:xfrm>
            <a:off x="571500" y="1695524"/>
            <a:ext cx="571500" cy="350044"/>
          </a:xfrm>
          <a:prstGeom prst="rect">
            <a:avLst/>
          </a:prstGeom>
          <a:noFill/>
          <a:ln/>
        </p:spPr>
        <p:txBody>
          <a:bodyPr wrap="none" lIns="0" tIns="0" rIns="0" bIns="0" rtlCol="0" anchor="t">
            <a:spAutoFit/>
          </a:bodyPr>
          <a:lstStyle/>
          <a:p>
            <a:pPr algn="l" indent="0" marL="0">
              <a:lnSpc>
                <a:spcPts val="2400"/>
              </a:lnSpc>
              <a:buNone/>
            </a:pPr>
            <a:r>
              <a:rPr lang="en-US" sz="1924" i="1" dirty="0">
                <a:solidFill>
                  <a:srgbClr val="D4AF37"/>
                </a:solidFill>
              </a:rPr>
              <a:t>01</a:t>
            </a:r>
            <a:endParaRPr lang="en-US" sz="1924" dirty="0"/>
          </a:p>
        </p:txBody>
      </p:sp>
      <p:sp>
        <p:nvSpPr>
          <p:cNvPr id="9" name="Text 6"/>
          <p:cNvSpPr/>
          <p:nvPr/>
        </p:nvSpPr>
        <p:spPr>
          <a:xfrm>
            <a:off x="1143000" y="1786607"/>
            <a:ext cx="742950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Don't Chase or Beg</a:t>
            </a:r>
            <a:endParaRPr lang="en-US" sz="1193" dirty="0"/>
          </a:p>
        </p:txBody>
      </p:sp>
      <p:sp>
        <p:nvSpPr>
          <p:cNvPr id="10" name="Text 7"/>
          <p:cNvSpPr/>
          <p:nvPr/>
        </p:nvSpPr>
        <p:spPr>
          <a:xfrm>
            <a:off x="1143000" y="2056284"/>
            <a:ext cx="7429500"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555555"/>
                </a:solidFill>
              </a:rPr>
              <a:t>Excessive calling, texting, or pleading reinforces their power and diminishes your standing.</a:t>
            </a:r>
            <a:endParaRPr lang="en-US" sz="942" dirty="0"/>
          </a:p>
        </p:txBody>
      </p:sp>
      <p:sp>
        <p:nvSpPr>
          <p:cNvPr id="11" name="Text 8"/>
          <p:cNvSpPr/>
          <p:nvPr/>
        </p:nvSpPr>
        <p:spPr>
          <a:xfrm>
            <a:off x="571500" y="2422038"/>
            <a:ext cx="571500" cy="350044"/>
          </a:xfrm>
          <a:prstGeom prst="rect">
            <a:avLst/>
          </a:prstGeom>
          <a:noFill/>
          <a:ln/>
        </p:spPr>
        <p:txBody>
          <a:bodyPr wrap="none" lIns="0" tIns="0" rIns="0" bIns="0" rtlCol="0" anchor="t">
            <a:spAutoFit/>
          </a:bodyPr>
          <a:lstStyle/>
          <a:p>
            <a:pPr algn="l" indent="0" marL="0">
              <a:lnSpc>
                <a:spcPts val="2400"/>
              </a:lnSpc>
              <a:buNone/>
            </a:pPr>
            <a:r>
              <a:rPr lang="en-US" sz="1924" i="1" dirty="0">
                <a:solidFill>
                  <a:srgbClr val="D4AF37"/>
                </a:solidFill>
              </a:rPr>
              <a:t>02</a:t>
            </a:r>
            <a:endParaRPr lang="en-US" sz="1924" dirty="0"/>
          </a:p>
        </p:txBody>
      </p:sp>
      <p:sp>
        <p:nvSpPr>
          <p:cNvPr id="12" name="Text 9"/>
          <p:cNvSpPr/>
          <p:nvPr/>
        </p:nvSpPr>
        <p:spPr>
          <a:xfrm>
            <a:off x="1143000" y="2513121"/>
            <a:ext cx="742950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Don't Blame Yourself</a:t>
            </a:r>
            <a:endParaRPr lang="en-US" sz="1193" dirty="0"/>
          </a:p>
        </p:txBody>
      </p:sp>
      <p:sp>
        <p:nvSpPr>
          <p:cNvPr id="13" name="Text 10"/>
          <p:cNvSpPr/>
          <p:nvPr/>
        </p:nvSpPr>
        <p:spPr>
          <a:xfrm>
            <a:off x="1143000" y="2782798"/>
            <a:ext cx="7429500"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555555"/>
                </a:solidFill>
              </a:rPr>
              <a:t>Their behavior is a reflection of their internal state, not your inadequacy or failure.</a:t>
            </a:r>
            <a:endParaRPr lang="en-US" sz="942" dirty="0"/>
          </a:p>
        </p:txBody>
      </p:sp>
      <p:sp>
        <p:nvSpPr>
          <p:cNvPr id="14" name="Text 11"/>
          <p:cNvSpPr/>
          <p:nvPr/>
        </p:nvSpPr>
        <p:spPr>
          <a:xfrm>
            <a:off x="571500" y="3148552"/>
            <a:ext cx="571500" cy="350044"/>
          </a:xfrm>
          <a:prstGeom prst="rect">
            <a:avLst/>
          </a:prstGeom>
          <a:noFill/>
          <a:ln/>
        </p:spPr>
        <p:txBody>
          <a:bodyPr wrap="none" lIns="0" tIns="0" rIns="0" bIns="0" rtlCol="0" anchor="t">
            <a:spAutoFit/>
          </a:bodyPr>
          <a:lstStyle/>
          <a:p>
            <a:pPr algn="l" indent="0" marL="0">
              <a:lnSpc>
                <a:spcPts val="2400"/>
              </a:lnSpc>
              <a:buNone/>
            </a:pPr>
            <a:r>
              <a:rPr lang="en-US" sz="1924" i="1" dirty="0">
                <a:solidFill>
                  <a:srgbClr val="D4AF37"/>
                </a:solidFill>
              </a:rPr>
              <a:t>03</a:t>
            </a:r>
            <a:endParaRPr lang="en-US" sz="1924" dirty="0"/>
          </a:p>
        </p:txBody>
      </p:sp>
      <p:sp>
        <p:nvSpPr>
          <p:cNvPr id="15" name="Text 12"/>
          <p:cNvSpPr/>
          <p:nvPr/>
        </p:nvSpPr>
        <p:spPr>
          <a:xfrm>
            <a:off x="1143000" y="3239635"/>
            <a:ext cx="742950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Don't Try to "Fix" Them</a:t>
            </a:r>
            <a:endParaRPr lang="en-US" sz="1193" dirty="0"/>
          </a:p>
        </p:txBody>
      </p:sp>
      <p:sp>
        <p:nvSpPr>
          <p:cNvPr id="16" name="Text 13"/>
          <p:cNvSpPr/>
          <p:nvPr/>
        </p:nvSpPr>
        <p:spPr>
          <a:xfrm>
            <a:off x="1143000" y="3509311"/>
            <a:ext cx="7429500"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555555"/>
                </a:solidFill>
              </a:rPr>
              <a:t>You cannot change or heal someone who refuses to acknowledge the problem exists.</a:t>
            </a:r>
            <a:endParaRPr lang="en-US" sz="942" dirty="0"/>
          </a:p>
        </p:txBody>
      </p:sp>
      <p:sp>
        <p:nvSpPr>
          <p:cNvPr id="17" name="Text 14"/>
          <p:cNvSpPr/>
          <p:nvPr/>
        </p:nvSpPr>
        <p:spPr>
          <a:xfrm>
            <a:off x="571500" y="3875066"/>
            <a:ext cx="571500" cy="350044"/>
          </a:xfrm>
          <a:prstGeom prst="rect">
            <a:avLst/>
          </a:prstGeom>
          <a:noFill/>
          <a:ln/>
        </p:spPr>
        <p:txBody>
          <a:bodyPr wrap="none" lIns="0" tIns="0" rIns="0" bIns="0" rtlCol="0" anchor="t">
            <a:spAutoFit/>
          </a:bodyPr>
          <a:lstStyle/>
          <a:p>
            <a:pPr algn="l" indent="0" marL="0">
              <a:lnSpc>
                <a:spcPts val="2400"/>
              </a:lnSpc>
              <a:buNone/>
            </a:pPr>
            <a:r>
              <a:rPr lang="en-US" sz="1924" i="1" dirty="0">
                <a:solidFill>
                  <a:srgbClr val="D4AF37"/>
                </a:solidFill>
              </a:rPr>
              <a:t>04</a:t>
            </a:r>
            <a:endParaRPr lang="en-US" sz="1924" dirty="0"/>
          </a:p>
        </p:txBody>
      </p:sp>
      <p:sp>
        <p:nvSpPr>
          <p:cNvPr id="18" name="Text 15"/>
          <p:cNvSpPr/>
          <p:nvPr/>
        </p:nvSpPr>
        <p:spPr>
          <a:xfrm>
            <a:off x="1143000" y="3966149"/>
            <a:ext cx="742950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Don't Isolate Completely</a:t>
            </a:r>
            <a:endParaRPr lang="en-US" sz="1193" dirty="0"/>
          </a:p>
        </p:txBody>
      </p:sp>
      <p:sp>
        <p:nvSpPr>
          <p:cNvPr id="19" name="Text 16"/>
          <p:cNvSpPr/>
          <p:nvPr/>
        </p:nvSpPr>
        <p:spPr>
          <a:xfrm>
            <a:off x="1143000" y="4235825"/>
            <a:ext cx="7429500"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555555"/>
                </a:solidFill>
              </a:rPr>
              <a:t>While space is good, total withdrawal from all support systems increases your vulnerability.</a:t>
            </a:r>
            <a:endParaRPr lang="en-US" sz="942" dirty="0"/>
          </a:p>
        </p:txBody>
      </p:sp>
      <p:sp>
        <p:nvSpPr>
          <p:cNvPr id="20" name="Text 17"/>
          <p:cNvSpPr/>
          <p:nvPr/>
        </p:nvSpPr>
        <p:spPr>
          <a:xfrm>
            <a:off x="571500" y="4601580"/>
            <a:ext cx="571500" cy="350044"/>
          </a:xfrm>
          <a:prstGeom prst="rect">
            <a:avLst/>
          </a:prstGeom>
          <a:noFill/>
          <a:ln/>
        </p:spPr>
        <p:txBody>
          <a:bodyPr wrap="none" lIns="0" tIns="0" rIns="0" bIns="0" rtlCol="0" anchor="t">
            <a:spAutoFit/>
          </a:bodyPr>
          <a:lstStyle/>
          <a:p>
            <a:pPr algn="l" indent="0" marL="0">
              <a:lnSpc>
                <a:spcPts val="2400"/>
              </a:lnSpc>
              <a:buNone/>
            </a:pPr>
            <a:r>
              <a:rPr lang="en-US" sz="1924" i="1" dirty="0">
                <a:solidFill>
                  <a:srgbClr val="D4AF37"/>
                </a:solidFill>
              </a:rPr>
              <a:t>05</a:t>
            </a:r>
            <a:endParaRPr lang="en-US" sz="1924" dirty="0"/>
          </a:p>
        </p:txBody>
      </p:sp>
      <p:sp>
        <p:nvSpPr>
          <p:cNvPr id="21" name="Text 18"/>
          <p:cNvSpPr/>
          <p:nvPr/>
        </p:nvSpPr>
        <p:spPr>
          <a:xfrm>
            <a:off x="1143000" y="4692662"/>
            <a:ext cx="7429500"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Don't Make Major Decisions</a:t>
            </a:r>
            <a:endParaRPr lang="en-US" sz="1193" dirty="0"/>
          </a:p>
        </p:txBody>
      </p:sp>
      <p:sp>
        <p:nvSpPr>
          <p:cNvPr id="22" name="Text 19"/>
          <p:cNvSpPr/>
          <p:nvPr/>
        </p:nvSpPr>
        <p:spPr>
          <a:xfrm>
            <a:off x="1143000" y="4962339"/>
            <a:ext cx="7429500" cy="180017"/>
          </a:xfrm>
          <a:prstGeom prst="rect">
            <a:avLst/>
          </a:prstGeom>
          <a:noFill/>
          <a:ln/>
        </p:spPr>
        <p:txBody>
          <a:bodyPr wrap="none" lIns="0" tIns="0" rIns="0" bIns="0" rtlCol="0" anchor="t">
            <a:spAutoFit/>
          </a:bodyPr>
          <a:lstStyle/>
          <a:p>
            <a:pPr algn="l" indent="0" marL="0">
              <a:lnSpc>
                <a:spcPts val="1400"/>
              </a:lnSpc>
              <a:buNone/>
            </a:pPr>
            <a:r>
              <a:rPr lang="en-US" sz="942" dirty="0">
                <a:solidFill>
                  <a:srgbClr val="555555"/>
                </a:solidFill>
              </a:rPr>
              <a:t>Wait until emotional stability returns before making life-altering choices like moving or quitting jobs.</a:t>
            </a:r>
            <a:endParaRPr lang="en-US" sz="94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2258"/>
            <a:ext cx="3571875" cy="15537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4AF37"/>
                </a:solidFill>
              </a:rPr>
              <a:t>Immediate Strategy</a:t>
            </a:r>
            <a:endParaRPr lang="en-US" sz="784" dirty="0"/>
          </a:p>
        </p:txBody>
      </p:sp>
      <p:sp>
        <p:nvSpPr>
          <p:cNvPr id="4" name="Text 1"/>
          <p:cNvSpPr/>
          <p:nvPr/>
        </p:nvSpPr>
        <p:spPr>
          <a:xfrm>
            <a:off x="571500" y="265993"/>
            <a:ext cx="3571875" cy="1131503"/>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1A1A1A"/>
                </a:solidFill>
              </a:rPr>
              <a:t>Stabilize Your Well-Being Through Basic Self-Care</a:t>
            </a:r>
            <a:endParaRPr lang="en-US" sz="2436" dirty="0"/>
          </a:p>
        </p:txBody>
      </p:sp>
      <p:sp>
        <p:nvSpPr>
          <p:cNvPr id="5" name="Text 2"/>
          <p:cNvSpPr/>
          <p:nvPr/>
        </p:nvSpPr>
        <p:spPr>
          <a:xfrm>
            <a:off x="571500" y="1611809"/>
            <a:ext cx="3571875" cy="617153"/>
          </a:xfrm>
          <a:prstGeom prst="rect">
            <a:avLst/>
          </a:prstGeom>
          <a:noFill/>
          <a:ln/>
        </p:spPr>
        <p:txBody>
          <a:bodyPr wrap="square" lIns="170053" tIns="0" rIns="0" bIns="0" rtlCol="0" anchor="t">
            <a:spAutoFit/>
          </a:bodyPr>
          <a:lstStyle/>
          <a:p>
            <a:pPr algn="l" indent="0" marL="0">
              <a:lnSpc>
                <a:spcPts val="1600"/>
              </a:lnSpc>
              <a:buNone/>
            </a:pPr>
            <a:r>
              <a:rPr lang="en-US" sz="942" dirty="0">
                <a:solidFill>
                  <a:srgbClr val="555555"/>
                </a:solidFill>
              </a:rPr>
              <a:t>During the discard phase, your nervous system is under extreme stress. Returning to fundamental self-care routines helps regulate your body and mind.</a:t>
            </a:r>
            <a:endParaRPr lang="en-US" sz="942" dirty="0"/>
          </a:p>
        </p:txBody>
      </p:sp>
      <p:sp>
        <p:nvSpPr>
          <p:cNvPr id="6" name="Text 3"/>
          <p:cNvSpPr/>
          <p:nvPr/>
        </p:nvSpPr>
        <p:spPr>
          <a:xfrm>
            <a:off x="750094" y="2514712"/>
            <a:ext cx="965467" cy="342900"/>
          </a:xfrm>
          <a:prstGeom prst="rect">
            <a:avLst/>
          </a:prstGeom>
          <a:noFill/>
          <a:ln/>
        </p:spPr>
        <p:txBody>
          <a:bodyPr wrap="square" lIns="0" tIns="0" rIns="0" bIns="0" rtlCol="0" anchor="t">
            <a:spAutoFit/>
          </a:bodyPr>
          <a:lstStyle/>
          <a:p>
            <a:pPr algn="l" indent="0" marL="0">
              <a:lnSpc>
                <a:spcPts val="1400"/>
              </a:lnSpc>
              <a:buNone/>
            </a:pPr>
            <a:r>
              <a:rPr lang="en-US" sz="987" b="1" dirty="0">
                <a:solidFill>
                  <a:srgbClr val="1A1A1A"/>
                </a:solidFill>
              </a:rPr>
              <a:t>Maintain Daily Routine:</a:t>
            </a:r>
            <a:endParaRPr lang="en-US" sz="987" dirty="0"/>
          </a:p>
        </p:txBody>
      </p:sp>
      <p:sp>
        <p:nvSpPr>
          <p:cNvPr id="7" name="Text 4"/>
          <p:cNvSpPr/>
          <p:nvPr/>
        </p:nvSpPr>
        <p:spPr>
          <a:xfrm>
            <a:off x="1772710" y="2514712"/>
            <a:ext cx="2370665" cy="389334"/>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333333"/>
                </a:solidFill>
              </a:rPr>
              <a:t>Structure provides stability when emotions feel chaotic.</a:t>
            </a:r>
            <a:endParaRPr lang="en-US" sz="1050" dirty="0"/>
          </a:p>
        </p:txBody>
      </p:sp>
      <p:sp>
        <p:nvSpPr>
          <p:cNvPr id="8" name="Text 5"/>
          <p:cNvSpPr/>
          <p:nvPr/>
        </p:nvSpPr>
        <p:spPr>
          <a:xfrm>
            <a:off x="750094" y="3046921"/>
            <a:ext cx="802918" cy="342900"/>
          </a:xfrm>
          <a:prstGeom prst="rect">
            <a:avLst/>
          </a:prstGeom>
          <a:noFill/>
          <a:ln/>
        </p:spPr>
        <p:txBody>
          <a:bodyPr wrap="square" lIns="0" tIns="0" rIns="0" bIns="0" rtlCol="0" anchor="t">
            <a:spAutoFit/>
          </a:bodyPr>
          <a:lstStyle/>
          <a:p>
            <a:pPr algn="l" indent="0" marL="0">
              <a:lnSpc>
                <a:spcPts val="1400"/>
              </a:lnSpc>
              <a:buNone/>
            </a:pPr>
            <a:r>
              <a:rPr lang="en-US" sz="987" b="1" dirty="0">
                <a:solidFill>
                  <a:srgbClr val="1A1A1A"/>
                </a:solidFill>
              </a:rPr>
              <a:t>Nutritious Meals:</a:t>
            </a:r>
            <a:endParaRPr lang="en-US" sz="987" dirty="0"/>
          </a:p>
        </p:txBody>
      </p:sp>
      <p:sp>
        <p:nvSpPr>
          <p:cNvPr id="9" name="Text 6"/>
          <p:cNvSpPr/>
          <p:nvPr/>
        </p:nvSpPr>
        <p:spPr>
          <a:xfrm>
            <a:off x="1610162" y="3046921"/>
            <a:ext cx="2533213" cy="389334"/>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333333"/>
                </a:solidFill>
              </a:rPr>
              <a:t>Regular eating supports physical and mental health.</a:t>
            </a:r>
            <a:endParaRPr lang="en-US" sz="1050" dirty="0"/>
          </a:p>
        </p:txBody>
      </p:sp>
      <p:sp>
        <p:nvSpPr>
          <p:cNvPr id="10" name="Text 7"/>
          <p:cNvSpPr/>
          <p:nvPr/>
        </p:nvSpPr>
        <p:spPr>
          <a:xfrm>
            <a:off x="750094" y="3579130"/>
            <a:ext cx="749033" cy="342900"/>
          </a:xfrm>
          <a:prstGeom prst="rect">
            <a:avLst/>
          </a:prstGeom>
          <a:noFill/>
          <a:ln/>
        </p:spPr>
        <p:txBody>
          <a:bodyPr wrap="square" lIns="0" tIns="0" rIns="0" bIns="0" rtlCol="0" anchor="t">
            <a:spAutoFit/>
          </a:bodyPr>
          <a:lstStyle/>
          <a:p>
            <a:pPr algn="l" indent="0" marL="0">
              <a:lnSpc>
                <a:spcPts val="1400"/>
              </a:lnSpc>
              <a:buNone/>
            </a:pPr>
            <a:r>
              <a:rPr lang="en-US" sz="987" b="1" dirty="0">
                <a:solidFill>
                  <a:srgbClr val="1A1A1A"/>
                </a:solidFill>
              </a:rPr>
              <a:t>Adequate Sleep:</a:t>
            </a:r>
            <a:endParaRPr lang="en-US" sz="987" dirty="0"/>
          </a:p>
        </p:txBody>
      </p:sp>
      <p:sp>
        <p:nvSpPr>
          <p:cNvPr id="11" name="Text 8"/>
          <p:cNvSpPr/>
          <p:nvPr/>
        </p:nvSpPr>
        <p:spPr>
          <a:xfrm>
            <a:off x="1556277" y="3579130"/>
            <a:ext cx="2587098" cy="389334"/>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333333"/>
                </a:solidFill>
              </a:rPr>
              <a:t>Rest is essential for emotional regulation and healing.</a:t>
            </a:r>
            <a:endParaRPr lang="en-US" sz="1050" dirty="0"/>
          </a:p>
        </p:txBody>
      </p:sp>
      <p:sp>
        <p:nvSpPr>
          <p:cNvPr id="12" name="Text 9"/>
          <p:cNvSpPr/>
          <p:nvPr/>
        </p:nvSpPr>
        <p:spPr>
          <a:xfrm>
            <a:off x="750094" y="4111340"/>
            <a:ext cx="1005873" cy="342900"/>
          </a:xfrm>
          <a:prstGeom prst="rect">
            <a:avLst/>
          </a:prstGeom>
          <a:noFill/>
          <a:ln/>
        </p:spPr>
        <p:txBody>
          <a:bodyPr wrap="square" lIns="0" tIns="0" rIns="0" bIns="0" rtlCol="0" anchor="t">
            <a:spAutoFit/>
          </a:bodyPr>
          <a:lstStyle/>
          <a:p>
            <a:pPr algn="l" indent="0" marL="0">
              <a:lnSpc>
                <a:spcPts val="1400"/>
              </a:lnSpc>
              <a:buNone/>
            </a:pPr>
            <a:r>
              <a:rPr lang="en-US" sz="987" b="1" dirty="0">
                <a:solidFill>
                  <a:srgbClr val="1A1A1A"/>
                </a:solidFill>
              </a:rPr>
              <a:t>Physical Movement:</a:t>
            </a:r>
            <a:endParaRPr lang="en-US" sz="987" dirty="0"/>
          </a:p>
        </p:txBody>
      </p:sp>
      <p:sp>
        <p:nvSpPr>
          <p:cNvPr id="13" name="Text 10"/>
          <p:cNvSpPr/>
          <p:nvPr/>
        </p:nvSpPr>
        <p:spPr>
          <a:xfrm>
            <a:off x="1813117" y="4111340"/>
            <a:ext cx="2330258" cy="389334"/>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333333"/>
                </a:solidFill>
              </a:rPr>
              <a:t>Exercise releases stress and improves mood.</a:t>
            </a:r>
            <a:endParaRPr lang="en-US" sz="1050" dirty="0"/>
          </a:p>
        </p:txBody>
      </p:sp>
      <p:sp>
        <p:nvSpPr>
          <p:cNvPr id="14" name="Text 11"/>
          <p:cNvSpPr/>
          <p:nvPr/>
        </p:nvSpPr>
        <p:spPr>
          <a:xfrm>
            <a:off x="750094" y="4643549"/>
            <a:ext cx="1089757" cy="342900"/>
          </a:xfrm>
          <a:prstGeom prst="rect">
            <a:avLst/>
          </a:prstGeom>
          <a:noFill/>
          <a:ln/>
        </p:spPr>
        <p:txBody>
          <a:bodyPr wrap="square" lIns="0" tIns="0" rIns="0" bIns="0" rtlCol="0" anchor="t">
            <a:spAutoFit/>
          </a:bodyPr>
          <a:lstStyle/>
          <a:p>
            <a:pPr algn="l" indent="0" marL="0">
              <a:lnSpc>
                <a:spcPts val="1400"/>
              </a:lnSpc>
              <a:buNone/>
            </a:pPr>
            <a:r>
              <a:rPr lang="en-US" sz="987" b="1" dirty="0">
                <a:solidFill>
                  <a:srgbClr val="1A1A1A"/>
                </a:solidFill>
              </a:rPr>
              <a:t>Breathing &amp; Meditation:</a:t>
            </a:r>
            <a:endParaRPr lang="en-US" sz="987" dirty="0"/>
          </a:p>
        </p:txBody>
      </p:sp>
      <p:sp>
        <p:nvSpPr>
          <p:cNvPr id="15" name="Text 12"/>
          <p:cNvSpPr/>
          <p:nvPr/>
        </p:nvSpPr>
        <p:spPr>
          <a:xfrm>
            <a:off x="1897000" y="4643549"/>
            <a:ext cx="2246375" cy="389334"/>
          </a:xfrm>
          <a:prstGeom prst="rect">
            <a:avLst/>
          </a:prstGeom>
          <a:noFill/>
          <a:ln/>
        </p:spPr>
        <p:txBody>
          <a:bodyPr wrap="square" lIns="0" tIns="0" rIns="0" bIns="0" rtlCol="0" anchor="t">
            <a:spAutoFit/>
          </a:bodyPr>
          <a:lstStyle/>
          <a:p>
            <a:pPr algn="l" indent="0" marL="0">
              <a:lnSpc>
                <a:spcPts val="1400"/>
              </a:lnSpc>
              <a:buNone/>
            </a:pPr>
            <a:r>
              <a:rPr lang="en-US" sz="1050" dirty="0">
                <a:solidFill>
                  <a:srgbClr val="333333"/>
                </a:solidFill>
              </a:rPr>
              <a:t>Calms the nervous system and reduces anxiety.</a:t>
            </a:r>
            <a:endParaRPr lang="en-US" sz="1050" dirty="0"/>
          </a:p>
        </p:txBody>
      </p:sp>
      <p:pic>
        <p:nvPicPr>
          <p:cNvPr id="16" name="Image 1" descr="preencoded.png">    </p:cNvPr>
          <p:cNvPicPr>
            <a:picLocks noChangeAspect="1"/>
          </p:cNvPicPr>
          <p:nvPr/>
        </p:nvPicPr>
        <p:blipFill>
          <a:blip r:embed="rId2"/>
          <a:stretch>
            <a:fillRect/>
          </a:stretch>
        </p:blipFill>
        <p:spPr>
          <a:xfrm>
            <a:off x="4572000" y="1321594"/>
            <a:ext cx="4000500" cy="25003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98165"/>
            <a:ext cx="4029075" cy="15537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4AF37"/>
                </a:solidFill>
              </a:rPr>
              <a:t>Immediate Strategy</a:t>
            </a:r>
            <a:endParaRPr lang="en-US" sz="784" dirty="0"/>
          </a:p>
        </p:txBody>
      </p:sp>
      <p:sp>
        <p:nvSpPr>
          <p:cNvPr id="4" name="Text 1"/>
          <p:cNvSpPr/>
          <p:nvPr/>
        </p:nvSpPr>
        <p:spPr>
          <a:xfrm>
            <a:off x="571500" y="796417"/>
            <a:ext cx="4029075" cy="377168"/>
          </a:xfrm>
          <a:prstGeom prst="rect">
            <a:avLst/>
          </a:prstGeom>
          <a:noFill/>
          <a:ln/>
        </p:spPr>
        <p:txBody>
          <a:bodyPr wrap="none" lIns="0" tIns="0" rIns="0" bIns="0" rtlCol="0" anchor="t">
            <a:spAutoFit/>
          </a:bodyPr>
          <a:lstStyle/>
          <a:p>
            <a:pPr algn="l" indent="0" marL="0">
              <a:lnSpc>
                <a:spcPts val="3000"/>
              </a:lnSpc>
              <a:buNone/>
            </a:pPr>
            <a:r>
              <a:rPr lang="en-US" sz="2436" b="1" dirty="0">
                <a:solidFill>
                  <a:srgbClr val="1A1A1A"/>
                </a:solidFill>
              </a:rPr>
              <a:t>Reach Out for Support</a:t>
            </a:r>
            <a:endParaRPr lang="en-US" sz="2436" dirty="0"/>
          </a:p>
        </p:txBody>
      </p:sp>
      <p:sp>
        <p:nvSpPr>
          <p:cNvPr id="5" name="Shape 2"/>
          <p:cNvSpPr/>
          <p:nvPr/>
        </p:nvSpPr>
        <p:spPr>
          <a:xfrm>
            <a:off x="571500" y="1387897"/>
            <a:ext cx="4029075" cy="617153"/>
          </a:xfrm>
          <a:prstGeom prst="rect">
            <a:avLst/>
          </a:prstGeom>
          <a:solidFill>
            <a:srgbClr val="000000">
              <a:alpha val="0"/>
            </a:srgbClr>
          </a:solidFill>
          <a:ln/>
        </p:spPr>
      </p:sp>
      <p:sp>
        <p:nvSpPr>
          <p:cNvPr id="6" name="Shape 3"/>
          <p:cNvSpPr/>
          <p:nvPr/>
        </p:nvSpPr>
        <p:spPr>
          <a:xfrm>
            <a:off x="571500" y="1387897"/>
            <a:ext cx="14288" cy="617153"/>
          </a:xfrm>
          <a:prstGeom prst="rect">
            <a:avLst/>
          </a:prstGeom>
          <a:solidFill>
            <a:srgbClr val="D4AF37"/>
          </a:solidFill>
          <a:ln/>
        </p:spPr>
      </p:sp>
      <p:sp>
        <p:nvSpPr>
          <p:cNvPr id="7" name="Text 4"/>
          <p:cNvSpPr/>
          <p:nvPr/>
        </p:nvSpPr>
        <p:spPr>
          <a:xfrm>
            <a:off x="571500" y="1387897"/>
            <a:ext cx="4029075" cy="617153"/>
          </a:xfrm>
          <a:prstGeom prst="rect">
            <a:avLst/>
          </a:prstGeom>
          <a:noFill/>
          <a:ln/>
        </p:spPr>
        <p:txBody>
          <a:bodyPr wrap="square" lIns="170053" tIns="0" rIns="0" bIns="0" rtlCol="0" anchor="t">
            <a:spAutoFit/>
          </a:bodyPr>
          <a:lstStyle/>
          <a:p>
            <a:pPr algn="l" indent="0" marL="0">
              <a:lnSpc>
                <a:spcPts val="1600"/>
              </a:lnSpc>
              <a:buNone/>
            </a:pPr>
            <a:r>
              <a:rPr lang="en-US" sz="942" dirty="0">
                <a:solidFill>
                  <a:srgbClr val="555555"/>
                </a:solidFill>
              </a:rPr>
              <a:t>Isolation is one of the narcissist's most effective tools. Breaking that isolation by reaching out to trusted people is a powerful act of self-protection and recovery.</a:t>
            </a:r>
            <a:endParaRPr lang="en-US" sz="942" dirty="0"/>
          </a:p>
        </p:txBody>
      </p:sp>
      <p:pic>
        <p:nvPicPr>
          <p:cNvPr id="8" name="Image 1" descr="preencoded.png">    </p:cNvPr>
          <p:cNvPicPr>
            <a:picLocks noChangeAspect="1"/>
          </p:cNvPicPr>
          <p:nvPr/>
        </p:nvPicPr>
        <p:blipFill>
          <a:blip r:embed="rId2"/>
          <a:stretch>
            <a:fillRect/>
          </a:stretch>
        </p:blipFill>
        <p:spPr>
          <a:xfrm>
            <a:off x="571500" y="2346164"/>
            <a:ext cx="178594" cy="142875"/>
          </a:xfrm>
          <a:prstGeom prst="rect">
            <a:avLst/>
          </a:prstGeom>
        </p:spPr>
      </p:pic>
      <p:sp>
        <p:nvSpPr>
          <p:cNvPr id="9" name="Text 5"/>
          <p:cNvSpPr/>
          <p:nvPr/>
        </p:nvSpPr>
        <p:spPr>
          <a:xfrm>
            <a:off x="885825" y="2290800"/>
            <a:ext cx="3037294"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Trusted Friends or Family</a:t>
            </a:r>
            <a:endParaRPr lang="en-US" sz="1090" dirty="0"/>
          </a:p>
        </p:txBody>
      </p:sp>
      <p:sp>
        <p:nvSpPr>
          <p:cNvPr id="10" name="Text 6"/>
          <p:cNvSpPr/>
          <p:nvPr/>
        </p:nvSpPr>
        <p:spPr>
          <a:xfrm>
            <a:off x="885825" y="2540831"/>
            <a:ext cx="3037294"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666666"/>
                </a:solidFill>
              </a:rPr>
              <a:t>Share your experience with safe people who believe you.</a:t>
            </a:r>
            <a:endParaRPr lang="en-US" sz="834" dirty="0"/>
          </a:p>
        </p:txBody>
      </p:sp>
      <p:pic>
        <p:nvPicPr>
          <p:cNvPr id="11" name="Image 2" descr="preencoded.png">    </p:cNvPr>
          <p:cNvPicPr>
            <a:picLocks noChangeAspect="1"/>
          </p:cNvPicPr>
          <p:nvPr/>
        </p:nvPicPr>
        <p:blipFill>
          <a:blip r:embed="rId3"/>
          <a:stretch>
            <a:fillRect/>
          </a:stretch>
        </p:blipFill>
        <p:spPr>
          <a:xfrm>
            <a:off x="571500" y="2934798"/>
            <a:ext cx="178594" cy="142875"/>
          </a:xfrm>
          <a:prstGeom prst="rect">
            <a:avLst/>
          </a:prstGeom>
        </p:spPr>
      </p:pic>
      <p:sp>
        <p:nvSpPr>
          <p:cNvPr id="12" name="Text 7"/>
          <p:cNvSpPr/>
          <p:nvPr/>
        </p:nvSpPr>
        <p:spPr>
          <a:xfrm>
            <a:off x="885825" y="2879434"/>
            <a:ext cx="299250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Support Groups</a:t>
            </a:r>
            <a:endParaRPr lang="en-US" sz="1090" dirty="0"/>
          </a:p>
        </p:txBody>
      </p:sp>
      <p:sp>
        <p:nvSpPr>
          <p:cNvPr id="13" name="Text 8"/>
          <p:cNvSpPr/>
          <p:nvPr/>
        </p:nvSpPr>
        <p:spPr>
          <a:xfrm>
            <a:off x="885825" y="3129465"/>
            <a:ext cx="2992506"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666666"/>
                </a:solidFill>
              </a:rPr>
              <a:t>Connect with others who understand narcissistic abuse.</a:t>
            </a:r>
            <a:endParaRPr lang="en-US" sz="834" dirty="0"/>
          </a:p>
        </p:txBody>
      </p:sp>
      <p:pic>
        <p:nvPicPr>
          <p:cNvPr id="14" name="Image 3" descr="preencoded.png">    </p:cNvPr>
          <p:cNvPicPr>
            <a:picLocks noChangeAspect="1"/>
          </p:cNvPicPr>
          <p:nvPr/>
        </p:nvPicPr>
        <p:blipFill>
          <a:blip r:embed="rId4"/>
          <a:stretch>
            <a:fillRect/>
          </a:stretch>
        </p:blipFill>
        <p:spPr>
          <a:xfrm>
            <a:off x="594717" y="3523431"/>
            <a:ext cx="125016" cy="142875"/>
          </a:xfrm>
          <a:prstGeom prst="rect">
            <a:avLst/>
          </a:prstGeom>
        </p:spPr>
      </p:pic>
      <p:sp>
        <p:nvSpPr>
          <p:cNvPr id="15" name="Text 9"/>
          <p:cNvSpPr/>
          <p:nvPr/>
        </p:nvSpPr>
        <p:spPr>
          <a:xfrm>
            <a:off x="885825" y="3468067"/>
            <a:ext cx="2825046"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Professional Therapy</a:t>
            </a:r>
            <a:endParaRPr lang="en-US" sz="1090" dirty="0"/>
          </a:p>
        </p:txBody>
      </p:sp>
      <p:sp>
        <p:nvSpPr>
          <p:cNvPr id="16" name="Text 10"/>
          <p:cNvSpPr/>
          <p:nvPr/>
        </p:nvSpPr>
        <p:spPr>
          <a:xfrm>
            <a:off x="885825" y="3718099"/>
            <a:ext cx="2825046"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666666"/>
                </a:solidFill>
              </a:rPr>
              <a:t>Seek guidance from a therapist familiar with trauma.</a:t>
            </a:r>
            <a:endParaRPr lang="en-US" sz="834" dirty="0"/>
          </a:p>
        </p:txBody>
      </p:sp>
      <p:pic>
        <p:nvPicPr>
          <p:cNvPr id="17" name="Image 4" descr="preencoded.png">    </p:cNvPr>
          <p:cNvPicPr>
            <a:picLocks noChangeAspect="1"/>
          </p:cNvPicPr>
          <p:nvPr/>
        </p:nvPicPr>
        <p:blipFill>
          <a:blip r:embed="rId5"/>
          <a:stretch>
            <a:fillRect/>
          </a:stretch>
        </p:blipFill>
        <p:spPr>
          <a:xfrm>
            <a:off x="585788" y="4112065"/>
            <a:ext cx="142875" cy="142875"/>
          </a:xfrm>
          <a:prstGeom prst="rect">
            <a:avLst/>
          </a:prstGeom>
        </p:spPr>
      </p:pic>
      <p:sp>
        <p:nvSpPr>
          <p:cNvPr id="18" name="Text 11"/>
          <p:cNvSpPr/>
          <p:nvPr/>
        </p:nvSpPr>
        <p:spPr>
          <a:xfrm>
            <a:off x="885825" y="4056701"/>
            <a:ext cx="269464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Crisis Hotlines</a:t>
            </a:r>
            <a:endParaRPr lang="en-US" sz="1090" dirty="0"/>
          </a:p>
        </p:txBody>
      </p:sp>
      <p:sp>
        <p:nvSpPr>
          <p:cNvPr id="19" name="Text 12"/>
          <p:cNvSpPr/>
          <p:nvPr/>
        </p:nvSpPr>
        <p:spPr>
          <a:xfrm>
            <a:off x="885825" y="4306732"/>
            <a:ext cx="2694645" cy="160009"/>
          </a:xfrm>
          <a:prstGeom prst="rect">
            <a:avLst/>
          </a:prstGeom>
          <a:noFill/>
          <a:ln/>
        </p:spPr>
        <p:txBody>
          <a:bodyPr wrap="none" lIns="0" tIns="0" rIns="0" bIns="0" rtlCol="0" anchor="t">
            <a:spAutoFit/>
          </a:bodyPr>
          <a:lstStyle/>
          <a:p>
            <a:pPr algn="l" indent="0" marL="0">
              <a:lnSpc>
                <a:spcPts val="1300"/>
              </a:lnSpc>
              <a:buNone/>
            </a:pPr>
            <a:r>
              <a:rPr lang="en-US" sz="834" dirty="0">
                <a:solidFill>
                  <a:srgbClr val="666666"/>
                </a:solidFill>
              </a:rPr>
              <a:t>Available 24/7 when you need immediate support.</a:t>
            </a:r>
            <a:endParaRPr lang="en-US" sz="834" dirty="0"/>
          </a:p>
        </p:txBody>
      </p:sp>
      <p:sp>
        <p:nvSpPr>
          <p:cNvPr id="20" name="Shape 13"/>
          <p:cNvSpPr/>
          <p:nvPr/>
        </p:nvSpPr>
        <p:spPr>
          <a:xfrm>
            <a:off x="5029200" y="0"/>
            <a:ext cx="4114800" cy="5143500"/>
          </a:xfrm>
          <a:prstGeom prst="rect">
            <a:avLst/>
          </a:prstGeom>
          <a:solidFill>
            <a:srgbClr val="F5F5F5"/>
          </a:solidFill>
          <a:ln/>
        </p:spPr>
      </p:sp>
      <p:sp>
        <p:nvSpPr>
          <p:cNvPr id="21" name="Shape 14"/>
          <p:cNvSpPr/>
          <p:nvPr/>
        </p:nvSpPr>
        <p:spPr>
          <a:xfrm>
            <a:off x="5029200" y="0"/>
            <a:ext cx="28575" cy="5143500"/>
          </a:xfrm>
          <a:prstGeom prst="rect">
            <a:avLst/>
          </a:prstGeom>
          <a:solidFill>
            <a:srgbClr val="D4AF37"/>
          </a:solidFill>
          <a:ln/>
        </p:spPr>
      </p:sp>
      <p:pic>
        <p:nvPicPr>
          <p:cNvPr id="22" name="Image 5" descr="preencoded.png">    </p:cNvPr>
          <p:cNvPicPr>
            <a:picLocks noChangeAspect="1"/>
          </p:cNvPicPr>
          <p:nvPr/>
        </p:nvPicPr>
        <p:blipFill>
          <a:blip r:embed="rId6"/>
          <a:stretch>
            <a:fillRect/>
          </a:stretch>
        </p:blipFill>
        <p:spPr>
          <a:xfrm>
            <a:off x="5337804" y="1057889"/>
            <a:ext cx="3497563" cy="30277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153786"/>
            <a:ext cx="4629150" cy="880077"/>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1A1A1A"/>
                </a:solidFill>
              </a:rPr>
              <a:t>Emotional Coping</a:t>
            </a:r>
            <a:pPr algn="l" indent="0" marL="0">
              <a:lnSpc>
                <a:spcPts val="3500"/>
              </a:lnSpc>
              <a:buNone/>
            </a:pPr>
            <a:r>
              <a:rPr lang="en-US" sz="2862" b="1" dirty="0">
                <a:solidFill>
                  <a:srgbClr val="1A1A1A"/>
                </a:solidFill>
              </a:rPr>
              <a:t>
</a:t>
            </a:r>
            <a:pPr algn="l" indent="0" marL="0">
              <a:lnSpc>
                <a:spcPts val="3500"/>
              </a:lnSpc>
              <a:buNone/>
            </a:pPr>
            <a:r>
              <a:rPr lang="en-US" sz="2862" b="1" dirty="0">
                <a:solidFill>
                  <a:srgbClr val="1A1A1A"/>
                </a:solidFill>
              </a:rPr>
              <a:t>Techniques</a:t>
            </a:r>
            <a:endParaRPr lang="en-US" sz="2862" dirty="0"/>
          </a:p>
        </p:txBody>
      </p:sp>
      <p:sp>
        <p:nvSpPr>
          <p:cNvPr id="4" name="Text 1"/>
          <p:cNvSpPr/>
          <p:nvPr/>
        </p:nvSpPr>
        <p:spPr>
          <a:xfrm>
            <a:off x="428625" y="1141019"/>
            <a:ext cx="4629150" cy="194667"/>
          </a:xfrm>
          <a:prstGeom prst="rect">
            <a:avLst/>
          </a:prstGeom>
          <a:noFill/>
          <a:ln/>
        </p:spPr>
        <p:txBody>
          <a:bodyPr wrap="none" lIns="0" tIns="0" rIns="0" bIns="0" rtlCol="0" anchor="t">
            <a:spAutoFit/>
          </a:bodyPr>
          <a:lstStyle/>
          <a:p>
            <a:pPr algn="l" indent="0" marL="0">
              <a:lnSpc>
                <a:spcPts val="1400"/>
              </a:lnSpc>
              <a:buNone/>
            </a:pPr>
            <a:r>
              <a:rPr lang="en-US" sz="987" b="1" spc="2" kern="0" dirty="0">
                <a:solidFill>
                  <a:srgbClr val="D4AF37"/>
                </a:solidFill>
              </a:rPr>
              <a:t>Ground Yourself &amp; Regulate</a:t>
            </a:r>
            <a:endParaRPr lang="en-US" sz="987" dirty="0"/>
          </a:p>
        </p:txBody>
      </p:sp>
      <p:sp>
        <p:nvSpPr>
          <p:cNvPr id="5" name="Text 2"/>
          <p:cNvSpPr/>
          <p:nvPr/>
        </p:nvSpPr>
        <p:spPr>
          <a:xfrm>
            <a:off x="671513" y="1692873"/>
            <a:ext cx="4386263" cy="273248"/>
          </a:xfrm>
          <a:prstGeom prst="rect">
            <a:avLst/>
          </a:prstGeom>
          <a:noFill/>
          <a:ln/>
        </p:spPr>
        <p:txBody>
          <a:bodyPr wrap="none" lIns="0" tIns="0" rIns="0" bIns="0" rtlCol="0" anchor="t">
            <a:spAutoFit/>
          </a:bodyPr>
          <a:lstStyle/>
          <a:p>
            <a:pPr algn="l" indent="0" marL="0">
              <a:lnSpc>
                <a:spcPts val="1900"/>
              </a:lnSpc>
              <a:buNone/>
            </a:pPr>
            <a:r>
              <a:rPr lang="en-US" sz="1397" b="1" i="1" dirty="0">
                <a:solidFill>
                  <a:srgbClr val="1A1A1A"/>
                </a:solidFill>
              </a:rPr>
              <a:t>Grounding Exercises</a:t>
            </a:r>
            <a:endParaRPr lang="en-US" sz="1397" dirty="0"/>
          </a:p>
        </p:txBody>
      </p:sp>
      <p:sp>
        <p:nvSpPr>
          <p:cNvPr id="6" name="Text 3"/>
          <p:cNvSpPr/>
          <p:nvPr/>
        </p:nvSpPr>
        <p:spPr>
          <a:xfrm>
            <a:off x="825103" y="2073278"/>
            <a:ext cx="876421" cy="385763"/>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1A1A1A"/>
                </a:solidFill>
              </a:rPr>
              <a:t>5-4-3-2-1 Technique:</a:t>
            </a:r>
            <a:endParaRPr lang="en-US" sz="885" dirty="0"/>
          </a:p>
        </p:txBody>
      </p:sp>
      <p:sp>
        <p:nvSpPr>
          <p:cNvPr id="7" name="Text 4"/>
          <p:cNvSpPr/>
          <p:nvPr/>
        </p:nvSpPr>
        <p:spPr>
          <a:xfrm>
            <a:off x="1758674" y="2073278"/>
            <a:ext cx="3299101"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Name things you see, touch, hear, smell, and taste to anchor in the present.</a:t>
            </a:r>
            <a:endParaRPr lang="en-US" sz="942" dirty="0"/>
          </a:p>
        </p:txBody>
      </p:sp>
      <p:sp>
        <p:nvSpPr>
          <p:cNvPr id="8" name="Text 5"/>
          <p:cNvSpPr/>
          <p:nvPr/>
        </p:nvSpPr>
        <p:spPr>
          <a:xfrm>
            <a:off x="825103" y="2544766"/>
            <a:ext cx="654128" cy="385763"/>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1A1A1A"/>
                </a:solidFill>
              </a:rPr>
              <a:t>Box Breathing:</a:t>
            </a:r>
            <a:endParaRPr lang="en-US" sz="885" dirty="0"/>
          </a:p>
        </p:txBody>
      </p:sp>
      <p:sp>
        <p:nvSpPr>
          <p:cNvPr id="9" name="Text 6"/>
          <p:cNvSpPr/>
          <p:nvPr/>
        </p:nvSpPr>
        <p:spPr>
          <a:xfrm>
            <a:off x="1536381" y="2544766"/>
            <a:ext cx="3521394"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Inhale, hold, exhale, and hold for 4 counts each to calm the nervous system.</a:t>
            </a:r>
            <a:endParaRPr lang="en-US" sz="942" dirty="0"/>
          </a:p>
        </p:txBody>
      </p:sp>
      <p:sp>
        <p:nvSpPr>
          <p:cNvPr id="10" name="Text 7"/>
          <p:cNvSpPr/>
          <p:nvPr/>
        </p:nvSpPr>
        <p:spPr>
          <a:xfrm>
            <a:off x="825103" y="3016253"/>
            <a:ext cx="1204168" cy="385763"/>
          </a:xfrm>
          <a:prstGeom prst="rect">
            <a:avLst/>
          </a:prstGeom>
          <a:noFill/>
          <a:ln/>
        </p:spPr>
        <p:txBody>
          <a:bodyPr wrap="square" lIns="0" tIns="0" rIns="0" bIns="0" rtlCol="0" anchor="t">
            <a:spAutoFit/>
          </a:bodyPr>
          <a:lstStyle/>
          <a:p>
            <a:pPr algn="l" indent="0" marL="0">
              <a:lnSpc>
                <a:spcPts val="1500"/>
              </a:lnSpc>
              <a:buNone/>
            </a:pPr>
            <a:r>
              <a:rPr lang="en-US" sz="885" b="1" dirty="0">
                <a:solidFill>
                  <a:srgbClr val="1A1A1A"/>
                </a:solidFill>
              </a:rPr>
              <a:t>Progressive Muscle Relaxation:</a:t>
            </a:r>
            <a:endParaRPr lang="en-US" sz="885" dirty="0"/>
          </a:p>
        </p:txBody>
      </p:sp>
      <p:sp>
        <p:nvSpPr>
          <p:cNvPr id="11" name="Text 8"/>
          <p:cNvSpPr/>
          <p:nvPr/>
        </p:nvSpPr>
        <p:spPr>
          <a:xfrm>
            <a:off x="2086421" y="3016253"/>
            <a:ext cx="2971354" cy="385763"/>
          </a:xfrm>
          <a:prstGeom prst="rect">
            <a:avLst/>
          </a:prstGeom>
          <a:noFill/>
          <a:ln/>
        </p:spPr>
        <p:txBody>
          <a:bodyPr wrap="square" lIns="0" tIns="0" rIns="0" bIns="0" rtlCol="0" anchor="t">
            <a:spAutoFit/>
          </a:bodyPr>
          <a:lstStyle/>
          <a:p>
            <a:pPr algn="l" indent="0" marL="0">
              <a:lnSpc>
                <a:spcPts val="1500"/>
              </a:lnSpc>
              <a:buNone/>
            </a:pPr>
            <a:r>
              <a:rPr lang="en-US" sz="942" dirty="0">
                <a:solidFill>
                  <a:srgbClr val="333333"/>
                </a:solidFill>
              </a:rPr>
              <a:t>Systematically tense and release muscle groups to reduce physical stress.</a:t>
            </a:r>
            <a:endParaRPr lang="en-US" sz="942" dirty="0"/>
          </a:p>
        </p:txBody>
      </p:sp>
      <p:sp>
        <p:nvSpPr>
          <p:cNvPr id="12" name="Text 9"/>
          <p:cNvSpPr/>
          <p:nvPr/>
        </p:nvSpPr>
        <p:spPr>
          <a:xfrm>
            <a:off x="671513" y="3773491"/>
            <a:ext cx="4386263" cy="273248"/>
          </a:xfrm>
          <a:prstGeom prst="rect">
            <a:avLst/>
          </a:prstGeom>
          <a:noFill/>
          <a:ln/>
        </p:spPr>
        <p:txBody>
          <a:bodyPr wrap="none" lIns="0" tIns="0" rIns="0" bIns="0" rtlCol="0" anchor="t">
            <a:spAutoFit/>
          </a:bodyPr>
          <a:lstStyle/>
          <a:p>
            <a:pPr algn="l" indent="0" marL="0">
              <a:lnSpc>
                <a:spcPts val="1900"/>
              </a:lnSpc>
              <a:buNone/>
            </a:pPr>
            <a:r>
              <a:rPr lang="en-US" sz="1397" b="1" i="1" dirty="0">
                <a:solidFill>
                  <a:srgbClr val="1A1A1A"/>
                </a:solidFill>
              </a:rPr>
              <a:t>Cognitive Strategies</a:t>
            </a:r>
            <a:endParaRPr lang="en-US" sz="1397" dirty="0"/>
          </a:p>
        </p:txBody>
      </p:sp>
      <p:sp>
        <p:nvSpPr>
          <p:cNvPr id="13" name="Text 10"/>
          <p:cNvSpPr/>
          <p:nvPr/>
        </p:nvSpPr>
        <p:spPr>
          <a:xfrm>
            <a:off x="825103" y="4153895"/>
            <a:ext cx="1007269"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1A1A1A"/>
                </a:solidFill>
              </a:rPr>
              <a:t>Shift Perspective:</a:t>
            </a:r>
            <a:endParaRPr lang="en-US" sz="885" dirty="0"/>
          </a:p>
        </p:txBody>
      </p:sp>
      <p:sp>
        <p:nvSpPr>
          <p:cNvPr id="14" name="Text 11"/>
          <p:cNvSpPr/>
          <p:nvPr/>
        </p:nvSpPr>
        <p:spPr>
          <a:xfrm>
            <a:off x="1889522" y="4153895"/>
            <a:ext cx="2772863"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333333"/>
                </a:solidFill>
              </a:rPr>
              <a:t>Remind yourself "This is about them, not me."</a:t>
            </a:r>
            <a:endParaRPr lang="en-US" sz="942" dirty="0"/>
          </a:p>
        </p:txBody>
      </p:sp>
      <p:sp>
        <p:nvSpPr>
          <p:cNvPr id="15" name="Text 12"/>
          <p:cNvSpPr/>
          <p:nvPr/>
        </p:nvSpPr>
        <p:spPr>
          <a:xfrm>
            <a:off x="825103" y="4432502"/>
            <a:ext cx="1000125"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1A1A1A"/>
                </a:solidFill>
              </a:rPr>
              <a:t>Self-Compassion:</a:t>
            </a:r>
            <a:endParaRPr lang="en-US" sz="885" dirty="0"/>
          </a:p>
        </p:txBody>
      </p:sp>
      <p:sp>
        <p:nvSpPr>
          <p:cNvPr id="16" name="Text 13"/>
          <p:cNvSpPr/>
          <p:nvPr/>
        </p:nvSpPr>
        <p:spPr>
          <a:xfrm>
            <a:off x="1882378" y="4432502"/>
            <a:ext cx="2560700"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333333"/>
                </a:solidFill>
              </a:rPr>
              <a:t>Challenge negative self-talk with kindness.</a:t>
            </a:r>
            <a:endParaRPr lang="en-US" sz="942" dirty="0"/>
          </a:p>
        </p:txBody>
      </p:sp>
      <p:sp>
        <p:nvSpPr>
          <p:cNvPr id="17" name="Text 14"/>
          <p:cNvSpPr/>
          <p:nvPr/>
        </p:nvSpPr>
        <p:spPr>
          <a:xfrm>
            <a:off x="825103" y="4711108"/>
            <a:ext cx="1003697"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1A1A1A"/>
                </a:solidFill>
              </a:rPr>
              <a:t>Focus on Control:</a:t>
            </a:r>
            <a:endParaRPr lang="en-US" sz="885" dirty="0"/>
          </a:p>
        </p:txBody>
      </p:sp>
      <p:sp>
        <p:nvSpPr>
          <p:cNvPr id="18" name="Text 15"/>
          <p:cNvSpPr/>
          <p:nvPr/>
        </p:nvSpPr>
        <p:spPr>
          <a:xfrm>
            <a:off x="1885950" y="4711108"/>
            <a:ext cx="2907897"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333333"/>
                </a:solidFill>
              </a:rPr>
              <a:t>Direct energy only toward what you can change.</a:t>
            </a:r>
            <a:endParaRPr lang="en-US" sz="942" dirty="0"/>
          </a:p>
        </p:txBody>
      </p:sp>
      <p:sp>
        <p:nvSpPr>
          <p:cNvPr id="19" name="Shape 16"/>
          <p:cNvSpPr/>
          <p:nvPr/>
        </p:nvSpPr>
        <p:spPr>
          <a:xfrm>
            <a:off x="5486400" y="0"/>
            <a:ext cx="3657600" cy="5143500"/>
          </a:xfrm>
          <a:prstGeom prst="rect">
            <a:avLst/>
          </a:prstGeom>
          <a:solidFill>
            <a:srgbClr val="F5F5F5"/>
          </a:solidFill>
          <a:ln/>
        </p:spPr>
      </p:sp>
      <p:pic>
        <p:nvPicPr>
          <p:cNvPr id="20" name="Image 1" descr="preencoded.png">    </p:cNvPr>
          <p:cNvPicPr>
            <a:picLocks noChangeAspect="1"/>
          </p:cNvPicPr>
          <p:nvPr/>
        </p:nvPicPr>
        <p:blipFill>
          <a:blip r:embed="rId2"/>
          <a:stretch>
            <a:fillRect/>
          </a:stretch>
        </p:blipFill>
        <p:spPr>
          <a:xfrm>
            <a:off x="5486400" y="0"/>
            <a:ext cx="36576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4371975" cy="754335"/>
          </a:xfrm>
          <a:prstGeom prst="rect">
            <a:avLst/>
          </a:prstGeom>
          <a:noFill/>
          <a:ln/>
        </p:spPr>
        <p:txBody>
          <a:bodyPr wrap="square" lIns="0" tIns="0" rIns="0" bIns="0" rtlCol="0" anchor="t">
            <a:spAutoFit/>
          </a:bodyPr>
          <a:lstStyle/>
          <a:p>
            <a:pPr algn="l" indent="0" marL="0">
              <a:lnSpc>
                <a:spcPts val="3000"/>
              </a:lnSpc>
              <a:buNone/>
            </a:pPr>
            <a:r>
              <a:rPr lang="en-US" sz="2436" b="1" dirty="0">
                <a:solidFill>
                  <a:srgbClr val="1A1A1A"/>
                </a:solidFill>
              </a:rPr>
              <a:t>Building a Strong Support Network</a:t>
            </a:r>
            <a:endParaRPr lang="en-US" sz="2436" dirty="0"/>
          </a:p>
        </p:txBody>
      </p:sp>
      <p:sp>
        <p:nvSpPr>
          <p:cNvPr id="4" name="Text 1"/>
          <p:cNvSpPr/>
          <p:nvPr/>
        </p:nvSpPr>
        <p:spPr>
          <a:xfrm>
            <a:off x="571500" y="1254398"/>
            <a:ext cx="4371975" cy="325041"/>
          </a:xfrm>
          <a:prstGeom prst="rect">
            <a:avLst/>
          </a:prstGeom>
          <a:noFill/>
          <a:ln/>
        </p:spPr>
        <p:txBody>
          <a:bodyPr wrap="square" lIns="0" tIns="0" rIns="0" bIns="170053" rtlCol="0" anchor="t">
            <a:spAutoFit/>
          </a:bodyPr>
          <a:lstStyle/>
          <a:p>
            <a:pPr algn="l" indent="0" marL="0">
              <a:lnSpc>
                <a:spcPts val="1200"/>
              </a:lnSpc>
              <a:buNone/>
            </a:pPr>
            <a:r>
              <a:rPr lang="en-US" sz="942" spc="2" kern="0" dirty="0">
                <a:solidFill>
                  <a:srgbClr val="D4AF37"/>
                </a:solidFill>
              </a:rPr>
              <a:t>Five Steps to Create a Safety Net</a:t>
            </a:r>
            <a:endParaRPr lang="en-US" sz="942" dirty="0"/>
          </a:p>
        </p:txBody>
      </p:sp>
      <p:sp>
        <p:nvSpPr>
          <p:cNvPr id="5" name="Text 2"/>
          <p:cNvSpPr/>
          <p:nvPr/>
        </p:nvSpPr>
        <p:spPr>
          <a:xfrm>
            <a:off x="571500" y="1865188"/>
            <a:ext cx="285750" cy="350044"/>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D4AF37"/>
                </a:solidFill>
              </a:rPr>
              <a:t>01</a:t>
            </a:r>
            <a:endParaRPr lang="en-US" sz="1808" dirty="0"/>
          </a:p>
        </p:txBody>
      </p:sp>
      <p:sp>
        <p:nvSpPr>
          <p:cNvPr id="6" name="Text 3"/>
          <p:cNvSpPr/>
          <p:nvPr/>
        </p:nvSpPr>
        <p:spPr>
          <a:xfrm>
            <a:off x="964406" y="1970559"/>
            <a:ext cx="397906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Identify Safe People</a:t>
            </a:r>
            <a:endParaRPr lang="en-US" sz="1090" dirty="0"/>
          </a:p>
        </p:txBody>
      </p:sp>
      <p:sp>
        <p:nvSpPr>
          <p:cNvPr id="7" name="Text 4"/>
          <p:cNvSpPr/>
          <p:nvPr/>
        </p:nvSpPr>
        <p:spPr>
          <a:xfrm>
            <a:off x="964406" y="2213446"/>
            <a:ext cx="3979069"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Recognize who in your life is trustworthy, empathetic, and capable of providing non-judgmental support.</a:t>
            </a:r>
            <a:endParaRPr lang="en-US" sz="834" dirty="0"/>
          </a:p>
        </p:txBody>
      </p:sp>
      <p:sp>
        <p:nvSpPr>
          <p:cNvPr id="8" name="Text 5"/>
          <p:cNvSpPr/>
          <p:nvPr/>
        </p:nvSpPr>
        <p:spPr>
          <a:xfrm>
            <a:off x="571500" y="2712058"/>
            <a:ext cx="285750" cy="350044"/>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D4AF37"/>
                </a:solidFill>
              </a:rPr>
              <a:t>02</a:t>
            </a:r>
            <a:endParaRPr lang="en-US" sz="1808" dirty="0"/>
          </a:p>
        </p:txBody>
      </p:sp>
      <p:sp>
        <p:nvSpPr>
          <p:cNvPr id="9" name="Text 6"/>
          <p:cNvSpPr/>
          <p:nvPr/>
        </p:nvSpPr>
        <p:spPr>
          <a:xfrm>
            <a:off x="964406" y="2817428"/>
            <a:ext cx="397906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Educate Trusted Friends</a:t>
            </a:r>
            <a:endParaRPr lang="en-US" sz="1090" dirty="0"/>
          </a:p>
        </p:txBody>
      </p:sp>
      <p:sp>
        <p:nvSpPr>
          <p:cNvPr id="10" name="Text 7"/>
          <p:cNvSpPr/>
          <p:nvPr/>
        </p:nvSpPr>
        <p:spPr>
          <a:xfrm>
            <a:off x="964406" y="3060316"/>
            <a:ext cx="3979069"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Help them understand the dynamics of narcissistic abuse so they can support you effectively.</a:t>
            </a:r>
            <a:endParaRPr lang="en-US" sz="834" dirty="0"/>
          </a:p>
        </p:txBody>
      </p:sp>
      <p:sp>
        <p:nvSpPr>
          <p:cNvPr id="11" name="Text 8"/>
          <p:cNvSpPr/>
          <p:nvPr/>
        </p:nvSpPr>
        <p:spPr>
          <a:xfrm>
            <a:off x="571500" y="3558927"/>
            <a:ext cx="285750" cy="350044"/>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D4AF37"/>
                </a:solidFill>
              </a:rPr>
              <a:t>03</a:t>
            </a:r>
            <a:endParaRPr lang="en-US" sz="1808" dirty="0"/>
          </a:p>
        </p:txBody>
      </p:sp>
      <p:sp>
        <p:nvSpPr>
          <p:cNvPr id="12" name="Text 9"/>
          <p:cNvSpPr/>
          <p:nvPr/>
        </p:nvSpPr>
        <p:spPr>
          <a:xfrm>
            <a:off x="964406" y="3664297"/>
            <a:ext cx="397906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Join Online Communities</a:t>
            </a:r>
            <a:endParaRPr lang="en-US" sz="1090" dirty="0"/>
          </a:p>
        </p:txBody>
      </p:sp>
      <p:sp>
        <p:nvSpPr>
          <p:cNvPr id="13" name="Text 10"/>
          <p:cNvSpPr/>
          <p:nvPr/>
        </p:nvSpPr>
        <p:spPr>
          <a:xfrm>
            <a:off x="964406" y="3907185"/>
            <a:ext cx="3979069"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Find validation and shared experiences with others who have walked a similar path.</a:t>
            </a:r>
            <a:endParaRPr lang="en-US" sz="834" dirty="0"/>
          </a:p>
        </p:txBody>
      </p:sp>
      <p:sp>
        <p:nvSpPr>
          <p:cNvPr id="14" name="Text 11"/>
          <p:cNvSpPr/>
          <p:nvPr/>
        </p:nvSpPr>
        <p:spPr>
          <a:xfrm>
            <a:off x="571500" y="4405796"/>
            <a:ext cx="285750" cy="350044"/>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D4AF37"/>
                </a:solidFill>
              </a:rPr>
              <a:t>04</a:t>
            </a:r>
            <a:endParaRPr lang="en-US" sz="1808" dirty="0"/>
          </a:p>
        </p:txBody>
      </p:sp>
      <p:sp>
        <p:nvSpPr>
          <p:cNvPr id="15" name="Text 12"/>
          <p:cNvSpPr/>
          <p:nvPr/>
        </p:nvSpPr>
        <p:spPr>
          <a:xfrm>
            <a:off x="964406" y="4511167"/>
            <a:ext cx="397906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Professional Counseling</a:t>
            </a:r>
            <a:endParaRPr lang="en-US" sz="1090" dirty="0"/>
          </a:p>
        </p:txBody>
      </p:sp>
      <p:sp>
        <p:nvSpPr>
          <p:cNvPr id="16" name="Text 13"/>
          <p:cNvSpPr/>
          <p:nvPr/>
        </p:nvSpPr>
        <p:spPr>
          <a:xfrm>
            <a:off x="964406" y="4754054"/>
            <a:ext cx="3979069"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Engage with trauma-informed therapists who specialize in narcissistic abuse recovery.</a:t>
            </a:r>
            <a:endParaRPr lang="en-US" sz="834" dirty="0"/>
          </a:p>
        </p:txBody>
      </p:sp>
      <p:sp>
        <p:nvSpPr>
          <p:cNvPr id="17" name="Text 14"/>
          <p:cNvSpPr/>
          <p:nvPr/>
        </p:nvSpPr>
        <p:spPr>
          <a:xfrm>
            <a:off x="571500" y="5252665"/>
            <a:ext cx="285750" cy="350044"/>
          </a:xfrm>
          <a:prstGeom prst="rect">
            <a:avLst/>
          </a:prstGeom>
          <a:noFill/>
          <a:ln/>
        </p:spPr>
        <p:txBody>
          <a:bodyPr wrap="none" lIns="0" tIns="0" rIns="0" bIns="0" rtlCol="0" anchor="t">
            <a:spAutoFit/>
          </a:bodyPr>
          <a:lstStyle/>
          <a:p>
            <a:pPr algn="l" indent="0" marL="0">
              <a:lnSpc>
                <a:spcPts val="2400"/>
              </a:lnSpc>
              <a:buNone/>
            </a:pPr>
            <a:r>
              <a:rPr lang="en-US" sz="1808" b="1" dirty="0">
                <a:solidFill>
                  <a:srgbClr val="D4AF37"/>
                </a:solidFill>
              </a:rPr>
              <a:t>05</a:t>
            </a:r>
            <a:endParaRPr lang="en-US" sz="1808" dirty="0"/>
          </a:p>
        </p:txBody>
      </p:sp>
      <p:sp>
        <p:nvSpPr>
          <p:cNvPr id="18" name="Text 15"/>
          <p:cNvSpPr/>
          <p:nvPr/>
        </p:nvSpPr>
        <p:spPr>
          <a:xfrm>
            <a:off x="964406" y="5358036"/>
            <a:ext cx="3979069"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Emergency Contact List</a:t>
            </a:r>
            <a:endParaRPr lang="en-US" sz="1090" dirty="0"/>
          </a:p>
        </p:txBody>
      </p:sp>
      <p:sp>
        <p:nvSpPr>
          <p:cNvPr id="19" name="Text 16"/>
          <p:cNvSpPr/>
          <p:nvPr/>
        </p:nvSpPr>
        <p:spPr>
          <a:xfrm>
            <a:off x="964406" y="5600923"/>
            <a:ext cx="3979069"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555555"/>
                </a:solidFill>
              </a:rPr>
              <a:t>Keep crisis resources and trusted contacts readily available for moments of acute distress.</a:t>
            </a:r>
            <a:endParaRPr lang="en-US" sz="834" dirty="0"/>
          </a:p>
        </p:txBody>
      </p:sp>
      <p:pic>
        <p:nvPicPr>
          <p:cNvPr id="20" name="Image 1" descr="preencoded.png">    </p:cNvPr>
          <p:cNvPicPr>
            <a:picLocks noChangeAspect="1"/>
          </p:cNvPicPr>
          <p:nvPr/>
        </p:nvPicPr>
        <p:blipFill>
          <a:blip r:embed="rId2"/>
          <a:stretch>
            <a:fillRect/>
          </a:stretch>
        </p:blipFill>
        <p:spPr>
          <a:xfrm>
            <a:off x="5372100" y="785813"/>
            <a:ext cx="3200400" cy="35718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71500" y="571500"/>
            <a:ext cx="2800350" cy="4000500"/>
          </a:xfrm>
          <a:prstGeom prst="rect">
            <a:avLst/>
          </a:prstGeom>
          <a:solidFill>
            <a:srgbClr val="000000">
              <a:alpha val="0"/>
            </a:srgbClr>
          </a:solidFill>
          <a:ln/>
        </p:spPr>
      </p:sp>
      <p:sp>
        <p:nvSpPr>
          <p:cNvPr id="4" name="Shape 1"/>
          <p:cNvSpPr/>
          <p:nvPr/>
        </p:nvSpPr>
        <p:spPr>
          <a:xfrm>
            <a:off x="3364706" y="571500"/>
            <a:ext cx="7144" cy="4000500"/>
          </a:xfrm>
          <a:prstGeom prst="rect">
            <a:avLst/>
          </a:prstGeom>
          <a:solidFill>
            <a:srgbClr val="333333"/>
          </a:solidFill>
          <a:ln/>
        </p:spPr>
      </p:sp>
      <p:sp>
        <p:nvSpPr>
          <p:cNvPr id="5" name="Text 2"/>
          <p:cNvSpPr/>
          <p:nvPr/>
        </p:nvSpPr>
        <p:spPr>
          <a:xfrm>
            <a:off x="571500" y="1279680"/>
            <a:ext cx="2514600" cy="155377"/>
          </a:xfrm>
          <a:prstGeom prst="rect">
            <a:avLst/>
          </a:prstGeom>
          <a:noFill/>
          <a:ln/>
        </p:spPr>
        <p:txBody>
          <a:bodyPr wrap="none" lIns="0" tIns="0" rIns="0" bIns="0" rtlCol="0" anchor="t">
            <a:spAutoFit/>
          </a:bodyPr>
          <a:lstStyle/>
          <a:p>
            <a:pPr algn="l" indent="0" marL="0">
              <a:lnSpc>
                <a:spcPts val="1100"/>
              </a:lnSpc>
              <a:buNone/>
            </a:pPr>
            <a:r>
              <a:rPr lang="en-US" sz="784" b="1" spc="2" kern="0" dirty="0">
                <a:solidFill>
                  <a:srgbClr val="D4AF37"/>
                </a:solidFill>
              </a:rPr>
              <a:t>Phase 03</a:t>
            </a:r>
            <a:endParaRPr lang="en-US" sz="784" dirty="0"/>
          </a:p>
        </p:txBody>
      </p:sp>
      <p:sp>
        <p:nvSpPr>
          <p:cNvPr id="6" name="Text 3"/>
          <p:cNvSpPr/>
          <p:nvPr/>
        </p:nvSpPr>
        <p:spPr>
          <a:xfrm>
            <a:off x="571500" y="1577932"/>
            <a:ext cx="2514600" cy="1320115"/>
          </a:xfrm>
          <a:prstGeom prst="rect">
            <a:avLst/>
          </a:prstGeom>
          <a:noFill/>
          <a:ln/>
        </p:spPr>
        <p:txBody>
          <a:bodyPr wrap="square" lIns="0" tIns="0" rIns="0" bIns="0" rtlCol="0" anchor="t">
            <a:spAutoFit/>
          </a:bodyPr>
          <a:lstStyle/>
          <a:p>
            <a:pPr algn="l" indent="0" marL="0">
              <a:lnSpc>
                <a:spcPts val="3500"/>
              </a:lnSpc>
              <a:buNone/>
            </a:pPr>
            <a:r>
              <a:rPr lang="en-US" sz="2862" b="1" dirty="0">
                <a:solidFill>
                  <a:srgbClr val="FFFFFF"/>
                </a:solidFill>
              </a:rPr>
              <a:t>Long-Term Recovery Planning</a:t>
            </a:r>
            <a:endParaRPr lang="en-US" sz="2862" dirty="0"/>
          </a:p>
        </p:txBody>
      </p:sp>
      <p:sp>
        <p:nvSpPr>
          <p:cNvPr id="7" name="Text 4"/>
          <p:cNvSpPr/>
          <p:nvPr/>
        </p:nvSpPr>
        <p:spPr>
          <a:xfrm>
            <a:off x="571500" y="3040921"/>
            <a:ext cx="2514600" cy="822871"/>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CCCCCC"/>
                </a:solidFill>
              </a:rPr>
              <a:t>Recovery from narcissistic abuse is not just about surviving the discard—it's about rebuilding your life with intention, strength, and renewed self-worth.</a:t>
            </a:r>
            <a:endParaRPr lang="en-US" sz="942" dirty="0"/>
          </a:p>
        </p:txBody>
      </p:sp>
      <p:sp>
        <p:nvSpPr>
          <p:cNvPr id="8" name="Shape 5"/>
          <p:cNvSpPr/>
          <p:nvPr/>
        </p:nvSpPr>
        <p:spPr>
          <a:xfrm>
            <a:off x="3364706" y="1371600"/>
            <a:ext cx="7144" cy="2400300"/>
          </a:xfrm>
          <a:prstGeom prst="rect">
            <a:avLst/>
          </a:prstGeom>
          <a:solidFill>
            <a:srgbClr val="D4AF37"/>
          </a:solidFill>
          <a:ln/>
        </p:spPr>
      </p:sp>
      <p:sp>
        <p:nvSpPr>
          <p:cNvPr id="9" name="Text 6"/>
          <p:cNvSpPr/>
          <p:nvPr/>
        </p:nvSpPr>
        <p:spPr>
          <a:xfrm>
            <a:off x="3800475" y="668889"/>
            <a:ext cx="4772025" cy="233958"/>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D4AF37"/>
                </a:solidFill>
              </a:rPr>
              <a:t>Develop Exit Strategy</a:t>
            </a:r>
            <a:endParaRPr lang="en-US" sz="1269" dirty="0"/>
          </a:p>
        </p:txBody>
      </p:sp>
      <p:sp>
        <p:nvSpPr>
          <p:cNvPr id="10" name="Text 7"/>
          <p:cNvSpPr/>
          <p:nvPr/>
        </p:nvSpPr>
        <p:spPr>
          <a:xfrm>
            <a:off x="3800475" y="938566"/>
            <a:ext cx="4772025" cy="320018"/>
          </a:xfrm>
          <a:prstGeom prst="rect">
            <a:avLst/>
          </a:prstGeom>
          <a:noFill/>
          <a:ln/>
        </p:spPr>
        <p:txBody>
          <a:bodyPr wrap="square" lIns="297688" tIns="0" rIns="0" bIns="0" rtlCol="0" anchor="t">
            <a:spAutoFit/>
          </a:bodyPr>
          <a:lstStyle/>
          <a:p>
            <a:pPr algn="l" indent="0" marL="0">
              <a:lnSpc>
                <a:spcPts val="1300"/>
              </a:lnSpc>
              <a:buNone/>
            </a:pPr>
            <a:r>
              <a:rPr lang="en-US" sz="834" dirty="0">
                <a:solidFill>
                  <a:srgbClr val="E0E0E0"/>
                </a:solidFill>
              </a:rPr>
              <a:t>Plan for safe separation if you're still in the relationship, prioritizing your physical and emotional safety.</a:t>
            </a:r>
            <a:endParaRPr lang="en-US" sz="834" dirty="0"/>
          </a:p>
        </p:txBody>
      </p:sp>
      <p:sp>
        <p:nvSpPr>
          <p:cNvPr id="11" name="Text 8"/>
          <p:cNvSpPr/>
          <p:nvPr/>
        </p:nvSpPr>
        <p:spPr>
          <a:xfrm>
            <a:off x="3800475" y="1472896"/>
            <a:ext cx="4772025" cy="233958"/>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D4AF37"/>
                </a:solidFill>
              </a:rPr>
              <a:t>Build Financial Independence</a:t>
            </a:r>
            <a:endParaRPr lang="en-US" sz="1269" dirty="0"/>
          </a:p>
        </p:txBody>
      </p:sp>
      <p:sp>
        <p:nvSpPr>
          <p:cNvPr id="12" name="Text 9"/>
          <p:cNvSpPr/>
          <p:nvPr/>
        </p:nvSpPr>
        <p:spPr>
          <a:xfrm>
            <a:off x="3800475" y="1742573"/>
            <a:ext cx="4772025" cy="320018"/>
          </a:xfrm>
          <a:prstGeom prst="rect">
            <a:avLst/>
          </a:prstGeom>
          <a:noFill/>
          <a:ln/>
        </p:spPr>
        <p:txBody>
          <a:bodyPr wrap="square" lIns="297688" tIns="0" rIns="0" bIns="0" rtlCol="0" anchor="t">
            <a:spAutoFit/>
          </a:bodyPr>
          <a:lstStyle/>
          <a:p>
            <a:pPr algn="l" indent="0" marL="0">
              <a:lnSpc>
                <a:spcPts val="1300"/>
              </a:lnSpc>
              <a:buNone/>
            </a:pPr>
            <a:r>
              <a:rPr lang="en-US" sz="834" dirty="0">
                <a:solidFill>
                  <a:srgbClr val="E0E0E0"/>
                </a:solidFill>
              </a:rPr>
              <a:t>Secure your economic stability and autonomy to ensure you are never dependent on an abuser.</a:t>
            </a:r>
            <a:endParaRPr lang="en-US" sz="834" dirty="0"/>
          </a:p>
        </p:txBody>
      </p:sp>
      <p:sp>
        <p:nvSpPr>
          <p:cNvPr id="13" name="Text 10"/>
          <p:cNvSpPr/>
          <p:nvPr/>
        </p:nvSpPr>
        <p:spPr>
          <a:xfrm>
            <a:off x="3800475" y="2276903"/>
            <a:ext cx="4772025" cy="233958"/>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D4AF37"/>
                </a:solidFill>
              </a:rPr>
              <a:t>Strengthen Other Relationships</a:t>
            </a:r>
            <a:endParaRPr lang="en-US" sz="1269" dirty="0"/>
          </a:p>
        </p:txBody>
      </p:sp>
      <p:sp>
        <p:nvSpPr>
          <p:cNvPr id="14" name="Text 11"/>
          <p:cNvSpPr/>
          <p:nvPr/>
        </p:nvSpPr>
        <p:spPr>
          <a:xfrm>
            <a:off x="3800475" y="2546579"/>
            <a:ext cx="4772025" cy="320018"/>
          </a:xfrm>
          <a:prstGeom prst="rect">
            <a:avLst/>
          </a:prstGeom>
          <a:noFill/>
          <a:ln/>
        </p:spPr>
        <p:txBody>
          <a:bodyPr wrap="square" lIns="297688" tIns="0" rIns="0" bIns="0" rtlCol="0" anchor="t">
            <a:spAutoFit/>
          </a:bodyPr>
          <a:lstStyle/>
          <a:p>
            <a:pPr algn="l" indent="0" marL="0">
              <a:lnSpc>
                <a:spcPts val="1300"/>
              </a:lnSpc>
              <a:buNone/>
            </a:pPr>
            <a:r>
              <a:rPr lang="en-US" sz="834" dirty="0">
                <a:solidFill>
                  <a:srgbClr val="E0E0E0"/>
                </a:solidFill>
              </a:rPr>
              <a:t>Rebuild connections with friends and family that may have been neglected or sabotaged.</a:t>
            </a:r>
            <a:endParaRPr lang="en-US" sz="834" dirty="0"/>
          </a:p>
        </p:txBody>
      </p:sp>
      <p:sp>
        <p:nvSpPr>
          <p:cNvPr id="15" name="Text 12"/>
          <p:cNvSpPr/>
          <p:nvPr/>
        </p:nvSpPr>
        <p:spPr>
          <a:xfrm>
            <a:off x="3800475" y="3080910"/>
            <a:ext cx="4772025" cy="233958"/>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D4AF37"/>
                </a:solidFill>
              </a:rPr>
              <a:t>Focus on Personal Goals</a:t>
            </a:r>
            <a:endParaRPr lang="en-US" sz="1269" dirty="0"/>
          </a:p>
        </p:txBody>
      </p:sp>
      <p:sp>
        <p:nvSpPr>
          <p:cNvPr id="16" name="Text 13"/>
          <p:cNvSpPr/>
          <p:nvPr/>
        </p:nvSpPr>
        <p:spPr>
          <a:xfrm>
            <a:off x="3800475" y="3350586"/>
            <a:ext cx="4772025" cy="320018"/>
          </a:xfrm>
          <a:prstGeom prst="rect">
            <a:avLst/>
          </a:prstGeom>
          <a:noFill/>
          <a:ln/>
        </p:spPr>
        <p:txBody>
          <a:bodyPr wrap="square" lIns="297688" tIns="0" rIns="0" bIns="0" rtlCol="0" anchor="t">
            <a:spAutoFit/>
          </a:bodyPr>
          <a:lstStyle/>
          <a:p>
            <a:pPr algn="l" indent="0" marL="0">
              <a:lnSpc>
                <a:spcPts val="1300"/>
              </a:lnSpc>
              <a:buNone/>
            </a:pPr>
            <a:r>
              <a:rPr lang="en-US" sz="834" dirty="0">
                <a:solidFill>
                  <a:srgbClr val="E0E0E0"/>
                </a:solidFill>
              </a:rPr>
              <a:t>Reconnect with your interests, dreams, and identity that existed before the relationship.</a:t>
            </a:r>
            <a:endParaRPr lang="en-US" sz="834" dirty="0"/>
          </a:p>
        </p:txBody>
      </p:sp>
      <p:sp>
        <p:nvSpPr>
          <p:cNvPr id="17" name="Text 14"/>
          <p:cNvSpPr/>
          <p:nvPr/>
        </p:nvSpPr>
        <p:spPr>
          <a:xfrm>
            <a:off x="3800475" y="3884916"/>
            <a:ext cx="4772025" cy="233958"/>
          </a:xfrm>
          <a:prstGeom prst="rect">
            <a:avLst/>
          </a:prstGeom>
          <a:noFill/>
          <a:ln/>
        </p:spPr>
        <p:txBody>
          <a:bodyPr wrap="none" lIns="0" tIns="0" rIns="0" bIns="0" rtlCol="0" anchor="t">
            <a:spAutoFit/>
          </a:bodyPr>
          <a:lstStyle/>
          <a:p>
            <a:pPr algn="l" indent="0" marL="0">
              <a:lnSpc>
                <a:spcPts val="1600"/>
              </a:lnSpc>
              <a:buNone/>
            </a:pPr>
            <a:r>
              <a:rPr lang="en-US" sz="1269" dirty="0">
                <a:solidFill>
                  <a:srgbClr val="D4AF37"/>
                </a:solidFill>
              </a:rPr>
              <a:t>Trauma-Informed Therapy</a:t>
            </a:r>
            <a:endParaRPr lang="en-US" sz="1269" dirty="0"/>
          </a:p>
        </p:txBody>
      </p:sp>
      <p:sp>
        <p:nvSpPr>
          <p:cNvPr id="18" name="Text 15"/>
          <p:cNvSpPr/>
          <p:nvPr/>
        </p:nvSpPr>
        <p:spPr>
          <a:xfrm>
            <a:off x="3800475" y="4154593"/>
            <a:ext cx="4772025" cy="320018"/>
          </a:xfrm>
          <a:prstGeom prst="rect">
            <a:avLst/>
          </a:prstGeom>
          <a:noFill/>
          <a:ln/>
        </p:spPr>
        <p:txBody>
          <a:bodyPr wrap="square" lIns="297688" tIns="0" rIns="0" bIns="0" rtlCol="0" anchor="t">
            <a:spAutoFit/>
          </a:bodyPr>
          <a:lstStyle/>
          <a:p>
            <a:pPr algn="l" indent="0" marL="0">
              <a:lnSpc>
                <a:spcPts val="1300"/>
              </a:lnSpc>
              <a:buNone/>
            </a:pPr>
            <a:r>
              <a:rPr lang="en-US" sz="834" dirty="0">
                <a:solidFill>
                  <a:srgbClr val="E0E0E0"/>
                </a:solidFill>
              </a:rPr>
              <a:t>Address deep emotional wounds and patterns with specialized professional support.</a:t>
            </a:r>
            <a:endParaRPr lang="en-US" sz="83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175022"/>
          </a:xfrm>
          <a:prstGeom prst="rect">
            <a:avLst/>
          </a:prstGeom>
          <a:noFill/>
          <a:ln/>
        </p:spPr>
        <p:txBody>
          <a:bodyPr wrap="none" lIns="0" tIns="0" rIns="0" bIns="0" rtlCol="0" anchor="t">
            <a:spAutoFit/>
          </a:bodyPr>
          <a:lstStyle/>
          <a:p>
            <a:pPr algn="ctr" indent="0" marL="0">
              <a:lnSpc>
                <a:spcPts val="1200"/>
              </a:lnSpc>
              <a:buNone/>
            </a:pPr>
            <a:r>
              <a:rPr lang="en-US" sz="885" b="1" spc="3" kern="0" dirty="0">
                <a:solidFill>
                  <a:srgbClr val="D4AF37"/>
                </a:solidFill>
              </a:rPr>
              <a:t>You Are Not Alone</a:t>
            </a:r>
            <a:endParaRPr lang="en-US" sz="885" dirty="0"/>
          </a:p>
        </p:txBody>
      </p:sp>
      <p:sp>
        <p:nvSpPr>
          <p:cNvPr id="4" name="Text 1"/>
          <p:cNvSpPr/>
          <p:nvPr/>
        </p:nvSpPr>
        <p:spPr>
          <a:xfrm>
            <a:off x="571500" y="710803"/>
            <a:ext cx="8001000" cy="440038"/>
          </a:xfrm>
          <a:prstGeom prst="rect">
            <a:avLst/>
          </a:prstGeom>
          <a:noFill/>
          <a:ln/>
        </p:spPr>
        <p:txBody>
          <a:bodyPr wrap="none" lIns="0" tIns="0" rIns="0" bIns="0" rtlCol="0" anchor="t">
            <a:spAutoFit/>
          </a:bodyPr>
          <a:lstStyle/>
          <a:p>
            <a:pPr algn="ctr" indent="0" marL="0">
              <a:lnSpc>
                <a:spcPts val="3500"/>
              </a:lnSpc>
              <a:buNone/>
            </a:pPr>
            <a:r>
              <a:rPr lang="en-US" sz="2862" b="1" dirty="0">
                <a:solidFill>
                  <a:srgbClr val="FFFFFF"/>
                </a:solidFill>
              </a:rPr>
              <a:t>Immediate Help Is Available</a:t>
            </a:r>
            <a:endParaRPr lang="en-US" sz="2862" dirty="0"/>
          </a:p>
        </p:txBody>
      </p:sp>
      <p:sp>
        <p:nvSpPr>
          <p:cNvPr id="5" name="Text 2"/>
          <p:cNvSpPr/>
          <p:nvPr/>
        </p:nvSpPr>
        <p:spPr>
          <a:xfrm>
            <a:off x="792956" y="1461985"/>
            <a:ext cx="3493294" cy="175022"/>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CCCCCC"/>
                </a:solidFill>
              </a:rPr>
              <a:t>National Domestic Violence Hotline</a:t>
            </a:r>
            <a:endParaRPr lang="en-US" sz="942" dirty="0"/>
          </a:p>
        </p:txBody>
      </p:sp>
      <p:sp>
        <p:nvSpPr>
          <p:cNvPr id="6" name="Text 3"/>
          <p:cNvSpPr/>
          <p:nvPr/>
        </p:nvSpPr>
        <p:spPr>
          <a:xfrm>
            <a:off x="792956" y="1708445"/>
            <a:ext cx="3493294"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D4AF37"/>
                </a:solidFill>
              </a:rPr>
              <a:t>1-800-799-7233</a:t>
            </a:r>
            <a:endParaRPr lang="en-US" sz="2436" dirty="0"/>
          </a:p>
        </p:txBody>
      </p:sp>
      <p:sp>
        <p:nvSpPr>
          <p:cNvPr id="7" name="Text 4"/>
          <p:cNvSpPr/>
          <p:nvPr/>
        </p:nvSpPr>
        <p:spPr>
          <a:xfrm>
            <a:off x="792956" y="2155627"/>
            <a:ext cx="3493294" cy="155377"/>
          </a:xfrm>
          <a:prstGeom prst="rect">
            <a:avLst/>
          </a:prstGeom>
          <a:noFill/>
          <a:ln/>
        </p:spPr>
        <p:txBody>
          <a:bodyPr wrap="none" lIns="0" tIns="0" rIns="0" bIns="0" rtlCol="0" anchor="t">
            <a:spAutoFit/>
          </a:bodyPr>
          <a:lstStyle/>
          <a:p>
            <a:pPr algn="l" indent="0" marL="0">
              <a:lnSpc>
                <a:spcPts val="1100"/>
              </a:lnSpc>
              <a:buNone/>
            </a:pPr>
            <a:r>
              <a:rPr lang="en-US" sz="834" i="1" dirty="0">
                <a:solidFill>
                  <a:srgbClr val="888888"/>
                </a:solidFill>
              </a:rPr>
              <a:t>Confidential support 24/7</a:t>
            </a:r>
            <a:endParaRPr lang="en-US" sz="834" dirty="0"/>
          </a:p>
        </p:txBody>
      </p:sp>
      <p:sp>
        <p:nvSpPr>
          <p:cNvPr id="8" name="Text 5"/>
          <p:cNvSpPr/>
          <p:nvPr/>
        </p:nvSpPr>
        <p:spPr>
          <a:xfrm>
            <a:off x="5079206" y="1461985"/>
            <a:ext cx="3493294" cy="175022"/>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CCCCCC"/>
                </a:solidFill>
              </a:rPr>
              <a:t>Crisis Text Line</a:t>
            </a:r>
            <a:endParaRPr lang="en-US" sz="942" dirty="0"/>
          </a:p>
        </p:txBody>
      </p:sp>
      <p:sp>
        <p:nvSpPr>
          <p:cNvPr id="9" name="Text 6"/>
          <p:cNvSpPr/>
          <p:nvPr/>
        </p:nvSpPr>
        <p:spPr>
          <a:xfrm>
            <a:off x="5079206" y="1708445"/>
            <a:ext cx="3493294" cy="822927"/>
          </a:xfrm>
          <a:prstGeom prst="rect">
            <a:avLst/>
          </a:prstGeom>
          <a:noFill/>
          <a:ln/>
        </p:spPr>
        <p:txBody>
          <a:bodyPr wrap="square" lIns="0" tIns="0" rIns="0" bIns="0" rtlCol="0" anchor="t">
            <a:spAutoFit/>
          </a:bodyPr>
          <a:lstStyle/>
          <a:p>
            <a:pPr algn="l" indent="0" marL="0">
              <a:lnSpc>
                <a:spcPts val="3200"/>
              </a:lnSpc>
              <a:buNone/>
            </a:pPr>
            <a:r>
              <a:rPr lang="en-US" sz="2436" b="1" dirty="0">
                <a:solidFill>
                  <a:srgbClr val="D4AF37"/>
                </a:solidFill>
              </a:rPr>
              <a:t>Text HOME to 741741</a:t>
            </a:r>
            <a:endParaRPr lang="en-US" sz="2436" dirty="0"/>
          </a:p>
        </p:txBody>
      </p:sp>
      <p:sp>
        <p:nvSpPr>
          <p:cNvPr id="10" name="Text 7"/>
          <p:cNvSpPr/>
          <p:nvPr/>
        </p:nvSpPr>
        <p:spPr>
          <a:xfrm>
            <a:off x="5079206" y="2567090"/>
            <a:ext cx="3493294" cy="155377"/>
          </a:xfrm>
          <a:prstGeom prst="rect">
            <a:avLst/>
          </a:prstGeom>
          <a:noFill/>
          <a:ln/>
        </p:spPr>
        <p:txBody>
          <a:bodyPr wrap="none" lIns="0" tIns="0" rIns="0" bIns="0" rtlCol="0" anchor="t">
            <a:spAutoFit/>
          </a:bodyPr>
          <a:lstStyle/>
          <a:p>
            <a:pPr algn="l" indent="0" marL="0">
              <a:lnSpc>
                <a:spcPts val="1100"/>
              </a:lnSpc>
              <a:buNone/>
            </a:pPr>
            <a:r>
              <a:rPr lang="en-US" sz="834" i="1" dirty="0">
                <a:solidFill>
                  <a:srgbClr val="888888"/>
                </a:solidFill>
              </a:rPr>
              <a:t>Free, 24/7 crisis counseling</a:t>
            </a:r>
            <a:endParaRPr lang="en-US" sz="834" dirty="0"/>
          </a:p>
        </p:txBody>
      </p:sp>
      <p:sp>
        <p:nvSpPr>
          <p:cNvPr id="11" name="Text 8"/>
          <p:cNvSpPr/>
          <p:nvPr/>
        </p:nvSpPr>
        <p:spPr>
          <a:xfrm>
            <a:off x="792956" y="3079654"/>
            <a:ext cx="3493294" cy="175022"/>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CCCCCC"/>
                </a:solidFill>
              </a:rPr>
              <a:t>SAMHSA National Helpline</a:t>
            </a:r>
            <a:endParaRPr lang="en-US" sz="942" dirty="0"/>
          </a:p>
        </p:txBody>
      </p:sp>
      <p:sp>
        <p:nvSpPr>
          <p:cNvPr id="12" name="Text 9"/>
          <p:cNvSpPr/>
          <p:nvPr/>
        </p:nvSpPr>
        <p:spPr>
          <a:xfrm>
            <a:off x="792956" y="3326113"/>
            <a:ext cx="3493294"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D4AF37"/>
                </a:solidFill>
              </a:rPr>
              <a:t>1-800-662-4357</a:t>
            </a:r>
            <a:endParaRPr lang="en-US" sz="2436" dirty="0"/>
          </a:p>
        </p:txBody>
      </p:sp>
      <p:sp>
        <p:nvSpPr>
          <p:cNvPr id="13" name="Text 10"/>
          <p:cNvSpPr/>
          <p:nvPr/>
        </p:nvSpPr>
        <p:spPr>
          <a:xfrm>
            <a:off x="792956" y="3773295"/>
            <a:ext cx="3493294" cy="155377"/>
          </a:xfrm>
          <a:prstGeom prst="rect">
            <a:avLst/>
          </a:prstGeom>
          <a:noFill/>
          <a:ln/>
        </p:spPr>
        <p:txBody>
          <a:bodyPr wrap="none" lIns="0" tIns="0" rIns="0" bIns="0" rtlCol="0" anchor="t">
            <a:spAutoFit/>
          </a:bodyPr>
          <a:lstStyle/>
          <a:p>
            <a:pPr algn="l" indent="0" marL="0">
              <a:lnSpc>
                <a:spcPts val="1100"/>
              </a:lnSpc>
              <a:buNone/>
            </a:pPr>
            <a:r>
              <a:rPr lang="en-US" sz="834" i="1" dirty="0">
                <a:solidFill>
                  <a:srgbClr val="888888"/>
                </a:solidFill>
              </a:rPr>
              <a:t>Treatment referral and information</a:t>
            </a:r>
            <a:endParaRPr lang="en-US" sz="834" dirty="0"/>
          </a:p>
        </p:txBody>
      </p:sp>
      <p:sp>
        <p:nvSpPr>
          <p:cNvPr id="14" name="Text 11"/>
          <p:cNvSpPr/>
          <p:nvPr/>
        </p:nvSpPr>
        <p:spPr>
          <a:xfrm>
            <a:off x="5079206" y="3079654"/>
            <a:ext cx="3493294" cy="175022"/>
          </a:xfrm>
          <a:prstGeom prst="rect">
            <a:avLst/>
          </a:prstGeom>
          <a:noFill/>
          <a:ln/>
        </p:spPr>
        <p:txBody>
          <a:bodyPr wrap="none" lIns="0" tIns="0" rIns="0" bIns="0" rtlCol="0" anchor="t">
            <a:spAutoFit/>
          </a:bodyPr>
          <a:lstStyle/>
          <a:p>
            <a:pPr algn="l" indent="0" marL="0">
              <a:lnSpc>
                <a:spcPts val="1200"/>
              </a:lnSpc>
              <a:buNone/>
            </a:pPr>
            <a:r>
              <a:rPr lang="en-US" sz="942" spc="1" kern="0" dirty="0">
                <a:solidFill>
                  <a:srgbClr val="CCCCCC"/>
                </a:solidFill>
              </a:rPr>
              <a:t>Suicide &amp; Crisis Lifeline</a:t>
            </a:r>
            <a:endParaRPr lang="en-US" sz="942" dirty="0"/>
          </a:p>
        </p:txBody>
      </p:sp>
      <p:sp>
        <p:nvSpPr>
          <p:cNvPr id="15" name="Text 12"/>
          <p:cNvSpPr/>
          <p:nvPr/>
        </p:nvSpPr>
        <p:spPr>
          <a:xfrm>
            <a:off x="5079206" y="3326113"/>
            <a:ext cx="3493294"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D4AF37"/>
                </a:solidFill>
              </a:rPr>
              <a:t>988</a:t>
            </a:r>
            <a:endParaRPr lang="en-US" sz="2436" dirty="0"/>
          </a:p>
        </p:txBody>
      </p:sp>
      <p:sp>
        <p:nvSpPr>
          <p:cNvPr id="16" name="Text 13"/>
          <p:cNvSpPr/>
          <p:nvPr/>
        </p:nvSpPr>
        <p:spPr>
          <a:xfrm>
            <a:off x="5079206" y="3773295"/>
            <a:ext cx="3493294" cy="155377"/>
          </a:xfrm>
          <a:prstGeom prst="rect">
            <a:avLst/>
          </a:prstGeom>
          <a:noFill/>
          <a:ln/>
        </p:spPr>
        <p:txBody>
          <a:bodyPr wrap="none" lIns="0" tIns="0" rIns="0" bIns="0" rtlCol="0" anchor="t">
            <a:spAutoFit/>
          </a:bodyPr>
          <a:lstStyle/>
          <a:p>
            <a:pPr algn="l" indent="0" marL="0">
              <a:lnSpc>
                <a:spcPts val="1100"/>
              </a:lnSpc>
              <a:buNone/>
            </a:pPr>
            <a:r>
              <a:rPr lang="en-US" sz="834" i="1" dirty="0">
                <a:solidFill>
                  <a:srgbClr val="888888"/>
                </a:solidFill>
              </a:rPr>
              <a:t>Call or text for immediate support</a:t>
            </a:r>
            <a:endParaRPr lang="en-US" sz="834" dirty="0"/>
          </a:p>
        </p:txBody>
      </p:sp>
      <p:sp>
        <p:nvSpPr>
          <p:cNvPr id="17" name="Shape 14"/>
          <p:cNvSpPr/>
          <p:nvPr/>
        </p:nvSpPr>
        <p:spPr>
          <a:xfrm>
            <a:off x="571500" y="4239816"/>
            <a:ext cx="8001000" cy="475059"/>
          </a:xfrm>
          <a:prstGeom prst="rect">
            <a:avLst/>
          </a:prstGeom>
          <a:solidFill>
            <a:srgbClr val="D4AF37">
              <a:alpha val="10000"/>
            </a:srgbClr>
          </a:solidFill>
          <a:ln w="9144">
            <a:solidFill>
              <a:srgbClr val="D4AF37"/>
            </a:solidFill>
            <a:prstDash val="solid"/>
          </a:ln>
        </p:spPr>
      </p:sp>
      <p:sp>
        <p:nvSpPr>
          <p:cNvPr id="18" name="Text 15"/>
          <p:cNvSpPr/>
          <p:nvPr/>
        </p:nvSpPr>
        <p:spPr>
          <a:xfrm>
            <a:off x="571500" y="4239816"/>
            <a:ext cx="8001000" cy="475059"/>
          </a:xfrm>
          <a:prstGeom prst="rect">
            <a:avLst/>
          </a:prstGeom>
          <a:noFill/>
          <a:ln/>
        </p:spPr>
        <p:txBody>
          <a:bodyPr wrap="square" lIns="170053" tIns="170053" rIns="170053" bIns="170053" rtlCol="0" anchor="t">
            <a:spAutoFit/>
          </a:bodyPr>
          <a:lstStyle/>
          <a:p>
            <a:pPr algn="ctr" indent="0" marL="0">
              <a:lnSpc>
                <a:spcPts val="1200"/>
              </a:lnSpc>
              <a:buNone/>
            </a:pPr>
            <a:r>
              <a:rPr lang="en-US" sz="942" dirty="0">
                <a:solidFill>
                  <a:srgbClr val="FFFFFF"/>
                </a:solidFill>
              </a:rPr>
              <a:t>If you are in immediate physical danger, please contact </a:t>
            </a:r>
            <a:pPr algn="ctr" indent="0" marL="0">
              <a:lnSpc>
                <a:spcPts val="1200"/>
              </a:lnSpc>
              <a:buNone/>
            </a:pPr>
            <a:r>
              <a:rPr lang="en-US" sz="885" b="1" dirty="0">
                <a:solidFill>
                  <a:srgbClr val="D4AF37"/>
                </a:solidFill>
              </a:rPr>
              <a:t>Emergency Services (911)</a:t>
            </a:r>
            <a:pPr algn="ctr" indent="0" marL="0">
              <a:lnSpc>
                <a:spcPts val="1200"/>
              </a:lnSpc>
              <a:buNone/>
            </a:pPr>
            <a:r>
              <a:rPr lang="en-US" sz="942" dirty="0">
                <a:solidFill>
                  <a:srgbClr val="FFFFFF"/>
                </a:solidFill>
              </a:rPr>
              <a:t> or your local authorities immediately.</a:t>
            </a:r>
            <a:endParaRPr lang="en-US" sz="94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3657600" cy="5143500"/>
          </a:xfrm>
          <a:prstGeom prst="rect">
            <a:avLst/>
          </a:prstGeom>
        </p:spPr>
      </p:pic>
      <p:sp>
        <p:nvSpPr>
          <p:cNvPr id="4" name="Shape 0"/>
          <p:cNvSpPr/>
          <p:nvPr/>
        </p:nvSpPr>
        <p:spPr>
          <a:xfrm>
            <a:off x="3614738" y="0"/>
            <a:ext cx="42863" cy="5143500"/>
          </a:xfrm>
          <a:prstGeom prst="rect">
            <a:avLst/>
          </a:prstGeom>
          <a:solidFill>
            <a:srgbClr val="D4AF37"/>
          </a:solidFill>
          <a:ln/>
        </p:spPr>
      </p:sp>
      <p:sp>
        <p:nvSpPr>
          <p:cNvPr id="5" name="Text 1"/>
          <p:cNvSpPr/>
          <p:nvPr/>
        </p:nvSpPr>
        <p:spPr>
          <a:xfrm>
            <a:off x="4086225" y="382609"/>
            <a:ext cx="4629150" cy="817234"/>
          </a:xfrm>
          <a:prstGeom prst="rect">
            <a:avLst/>
          </a:prstGeom>
          <a:noFill/>
          <a:ln/>
        </p:spPr>
        <p:txBody>
          <a:bodyPr wrap="square" lIns="0" tIns="0" rIns="0" bIns="0" rtlCol="0" anchor="t">
            <a:spAutoFit/>
          </a:bodyPr>
          <a:lstStyle/>
          <a:p>
            <a:pPr algn="l" indent="0" marL="0">
              <a:lnSpc>
                <a:spcPts val="3200"/>
              </a:lnSpc>
              <a:buNone/>
            </a:pPr>
            <a:r>
              <a:rPr lang="en-US" sz="2649" b="1" dirty="0">
                <a:solidFill>
                  <a:srgbClr val="1A1A1A"/>
                </a:solidFill>
              </a:rPr>
              <a:t>Core Truths to Remember</a:t>
            </a:r>
            <a:endParaRPr lang="en-US" sz="2649" dirty="0"/>
          </a:p>
        </p:txBody>
      </p:sp>
      <p:sp>
        <p:nvSpPr>
          <p:cNvPr id="6" name="Text 2"/>
          <p:cNvSpPr/>
          <p:nvPr/>
        </p:nvSpPr>
        <p:spPr>
          <a:xfrm>
            <a:off x="4086225" y="1271281"/>
            <a:ext cx="4629150" cy="175022"/>
          </a:xfrm>
          <a:prstGeom prst="rect">
            <a:avLst/>
          </a:prstGeom>
          <a:noFill/>
          <a:ln/>
        </p:spPr>
        <p:txBody>
          <a:bodyPr wrap="none" lIns="0" tIns="0" rIns="0" bIns="0" rtlCol="0" anchor="t">
            <a:spAutoFit/>
          </a:bodyPr>
          <a:lstStyle/>
          <a:p>
            <a:pPr algn="l" indent="0" marL="0">
              <a:lnSpc>
                <a:spcPts val="1200"/>
              </a:lnSpc>
              <a:buNone/>
            </a:pPr>
            <a:r>
              <a:rPr lang="en-US" sz="885" b="1" spc="2" kern="0" dirty="0">
                <a:solidFill>
                  <a:srgbClr val="D4AF37"/>
                </a:solidFill>
              </a:rPr>
              <a:t>Your Worth Is Inherent &amp; Unchangeable</a:t>
            </a:r>
            <a:endParaRPr lang="en-US" sz="885" dirty="0"/>
          </a:p>
        </p:txBody>
      </p:sp>
      <p:sp>
        <p:nvSpPr>
          <p:cNvPr id="7" name="Text 3"/>
          <p:cNvSpPr/>
          <p:nvPr/>
        </p:nvSpPr>
        <p:spPr>
          <a:xfrm>
            <a:off x="4086225" y="1803490"/>
            <a:ext cx="99454" cy="171450"/>
          </a:xfrm>
          <a:prstGeom prst="rect">
            <a:avLst/>
          </a:prstGeom>
          <a:noFill/>
          <a:ln/>
        </p:spPr>
        <p:txBody>
          <a:bodyPr wrap="none" lIns="0" tIns="0" rIns="0" bIns="0" rtlCol="0" anchor="t">
            <a:spAutoFit/>
          </a:bodyPr>
          <a:lstStyle/>
          <a:p>
            <a:pPr algn="l" indent="0" marL="0">
              <a:lnSpc>
                <a:spcPts val="1400"/>
              </a:lnSpc>
              <a:buNone/>
            </a:pPr>
            <a:r>
              <a:rPr lang="en-US" sz="1269" i="1" dirty="0">
                <a:solidFill>
                  <a:srgbClr val="D4AF37"/>
                </a:solidFill>
              </a:rPr>
              <a:t>I.</a:t>
            </a:r>
            <a:endParaRPr lang="en-US" sz="1269" dirty="0"/>
          </a:p>
        </p:txBody>
      </p:sp>
      <p:sp>
        <p:nvSpPr>
          <p:cNvPr id="8" name="Text 4"/>
          <p:cNvSpPr/>
          <p:nvPr/>
        </p:nvSpPr>
        <p:spPr>
          <a:xfrm>
            <a:off x="4328554" y="1803490"/>
            <a:ext cx="3092825" cy="220005"/>
          </a:xfrm>
          <a:prstGeom prst="rect">
            <a:avLst/>
          </a:prstGeom>
          <a:noFill/>
          <a:ln/>
        </p:spPr>
        <p:txBody>
          <a:bodyPr wrap="none" lIns="0" tIns="0" rIns="0" bIns="0" rtlCol="0" anchor="t">
            <a:spAutoFit/>
          </a:bodyPr>
          <a:lstStyle/>
          <a:p>
            <a:pPr algn="l" indent="0" marL="0">
              <a:lnSpc>
                <a:spcPts val="1700"/>
              </a:lnSpc>
              <a:buNone/>
            </a:pPr>
            <a:r>
              <a:rPr lang="en-US" sz="1090" b="1" dirty="0">
                <a:solidFill>
                  <a:srgbClr val="1A1A1A"/>
                </a:solidFill>
              </a:rPr>
              <a:t>You are not responsible for their behavior.</a:t>
            </a:r>
            <a:endParaRPr lang="en-US" sz="1090" dirty="0"/>
          </a:p>
        </p:txBody>
      </p:sp>
      <p:sp>
        <p:nvSpPr>
          <p:cNvPr id="9" name="Text 5"/>
          <p:cNvSpPr/>
          <p:nvPr/>
        </p:nvSpPr>
        <p:spPr>
          <a:xfrm>
            <a:off x="4328554" y="2053856"/>
            <a:ext cx="3092825" cy="194667"/>
          </a:xfrm>
          <a:prstGeom prst="rect">
            <a:avLst/>
          </a:prstGeom>
          <a:noFill/>
          <a:ln/>
        </p:spPr>
        <p:txBody>
          <a:bodyPr wrap="none" lIns="0" tIns="0" rIns="0" bIns="0" rtlCol="0" anchor="t">
            <a:spAutoFit/>
          </a:bodyPr>
          <a:lstStyle/>
          <a:p>
            <a:pPr algn="l" indent="0" marL="0">
              <a:lnSpc>
                <a:spcPts val="1600"/>
              </a:lnSpc>
              <a:buNone/>
            </a:pPr>
            <a:r>
              <a:rPr lang="en-US" sz="1050" dirty="0">
                <a:solidFill>
                  <a:srgbClr val="333333"/>
                </a:solidFill>
              </a:rPr>
              <a:t>Their choices reflect their character, not yours.</a:t>
            </a:r>
            <a:endParaRPr lang="en-US" sz="1050" dirty="0"/>
          </a:p>
        </p:txBody>
      </p:sp>
      <p:sp>
        <p:nvSpPr>
          <p:cNvPr id="10" name="Text 6"/>
          <p:cNvSpPr/>
          <p:nvPr/>
        </p:nvSpPr>
        <p:spPr>
          <a:xfrm>
            <a:off x="4086225" y="2430689"/>
            <a:ext cx="155014" cy="171450"/>
          </a:xfrm>
          <a:prstGeom prst="rect">
            <a:avLst/>
          </a:prstGeom>
          <a:noFill/>
          <a:ln/>
        </p:spPr>
        <p:txBody>
          <a:bodyPr wrap="none" lIns="0" tIns="0" rIns="0" bIns="0" rtlCol="0" anchor="t">
            <a:spAutoFit/>
          </a:bodyPr>
          <a:lstStyle/>
          <a:p>
            <a:pPr algn="l" indent="0" marL="0">
              <a:lnSpc>
                <a:spcPts val="1400"/>
              </a:lnSpc>
              <a:buNone/>
            </a:pPr>
            <a:r>
              <a:rPr lang="en-US" sz="1269" i="1" dirty="0">
                <a:solidFill>
                  <a:srgbClr val="D4AF37"/>
                </a:solidFill>
              </a:rPr>
              <a:t>II.</a:t>
            </a:r>
            <a:endParaRPr lang="en-US" sz="1269" dirty="0"/>
          </a:p>
        </p:txBody>
      </p:sp>
      <p:sp>
        <p:nvSpPr>
          <p:cNvPr id="11" name="Text 7"/>
          <p:cNvSpPr/>
          <p:nvPr/>
        </p:nvSpPr>
        <p:spPr>
          <a:xfrm>
            <a:off x="4384114" y="2430689"/>
            <a:ext cx="3878917" cy="220005"/>
          </a:xfrm>
          <a:prstGeom prst="rect">
            <a:avLst/>
          </a:prstGeom>
          <a:noFill/>
          <a:ln/>
        </p:spPr>
        <p:txBody>
          <a:bodyPr wrap="none" lIns="0" tIns="0" rIns="0" bIns="0" rtlCol="0" anchor="t">
            <a:spAutoFit/>
          </a:bodyPr>
          <a:lstStyle/>
          <a:p>
            <a:pPr algn="l" indent="0" marL="0">
              <a:lnSpc>
                <a:spcPts val="1700"/>
              </a:lnSpc>
              <a:buNone/>
            </a:pPr>
            <a:r>
              <a:rPr lang="en-US" sz="1090" b="1" dirty="0">
                <a:solidFill>
                  <a:srgbClr val="1A1A1A"/>
                </a:solidFill>
              </a:rPr>
              <a:t>The discard reveals their limitations.</a:t>
            </a:r>
            <a:endParaRPr lang="en-US" sz="1090" dirty="0"/>
          </a:p>
        </p:txBody>
      </p:sp>
      <p:sp>
        <p:nvSpPr>
          <p:cNvPr id="12" name="Text 8"/>
          <p:cNvSpPr/>
          <p:nvPr/>
        </p:nvSpPr>
        <p:spPr>
          <a:xfrm>
            <a:off x="4384114" y="2681055"/>
            <a:ext cx="3878917" cy="194667"/>
          </a:xfrm>
          <a:prstGeom prst="rect">
            <a:avLst/>
          </a:prstGeom>
          <a:noFill/>
          <a:ln/>
        </p:spPr>
        <p:txBody>
          <a:bodyPr wrap="none" lIns="0" tIns="0" rIns="0" bIns="0" rtlCol="0" anchor="t">
            <a:spAutoFit/>
          </a:bodyPr>
          <a:lstStyle/>
          <a:p>
            <a:pPr algn="l" indent="0" marL="0">
              <a:lnSpc>
                <a:spcPts val="1600"/>
              </a:lnSpc>
              <a:buNone/>
            </a:pPr>
            <a:r>
              <a:rPr lang="en-US" sz="1050" dirty="0">
                <a:solidFill>
                  <a:srgbClr val="333333"/>
                </a:solidFill>
              </a:rPr>
              <a:t>It is about their inability to maintain healthy relationships.</a:t>
            </a:r>
            <a:endParaRPr lang="en-US" sz="1050" dirty="0"/>
          </a:p>
        </p:txBody>
      </p:sp>
      <p:sp>
        <p:nvSpPr>
          <p:cNvPr id="13" name="Text 9"/>
          <p:cNvSpPr/>
          <p:nvPr/>
        </p:nvSpPr>
        <p:spPr>
          <a:xfrm>
            <a:off x="4086225" y="3057888"/>
            <a:ext cx="210545" cy="171450"/>
          </a:xfrm>
          <a:prstGeom prst="rect">
            <a:avLst/>
          </a:prstGeom>
          <a:noFill/>
          <a:ln/>
        </p:spPr>
        <p:txBody>
          <a:bodyPr wrap="none" lIns="0" tIns="0" rIns="0" bIns="0" rtlCol="0" anchor="t">
            <a:spAutoFit/>
          </a:bodyPr>
          <a:lstStyle/>
          <a:p>
            <a:pPr algn="l" indent="0" marL="0">
              <a:lnSpc>
                <a:spcPts val="1400"/>
              </a:lnSpc>
              <a:buNone/>
            </a:pPr>
            <a:r>
              <a:rPr lang="en-US" sz="1269" i="1" dirty="0">
                <a:solidFill>
                  <a:srgbClr val="D4AF37"/>
                </a:solidFill>
              </a:rPr>
              <a:t>III.</a:t>
            </a:r>
            <a:endParaRPr lang="en-US" sz="1269" dirty="0"/>
          </a:p>
        </p:txBody>
      </p:sp>
      <p:sp>
        <p:nvSpPr>
          <p:cNvPr id="14" name="Text 10"/>
          <p:cNvSpPr/>
          <p:nvPr/>
        </p:nvSpPr>
        <p:spPr>
          <a:xfrm>
            <a:off x="4439645" y="3057888"/>
            <a:ext cx="4185819" cy="220005"/>
          </a:xfrm>
          <a:prstGeom prst="rect">
            <a:avLst/>
          </a:prstGeom>
          <a:noFill/>
          <a:ln/>
        </p:spPr>
        <p:txBody>
          <a:bodyPr wrap="none" lIns="0" tIns="0" rIns="0" bIns="0" rtlCol="0" anchor="t">
            <a:spAutoFit/>
          </a:bodyPr>
          <a:lstStyle/>
          <a:p>
            <a:pPr algn="l" indent="0" marL="0">
              <a:lnSpc>
                <a:spcPts val="1700"/>
              </a:lnSpc>
              <a:buNone/>
            </a:pPr>
            <a:r>
              <a:rPr lang="en-US" sz="1090" b="1" dirty="0">
                <a:solidFill>
                  <a:srgbClr val="1A1A1A"/>
                </a:solidFill>
              </a:rPr>
              <a:t>Your worth is inherent.</a:t>
            </a:r>
            <a:endParaRPr lang="en-US" sz="1090" dirty="0"/>
          </a:p>
        </p:txBody>
      </p:sp>
      <p:sp>
        <p:nvSpPr>
          <p:cNvPr id="15" name="Text 11"/>
          <p:cNvSpPr/>
          <p:nvPr/>
        </p:nvSpPr>
        <p:spPr>
          <a:xfrm>
            <a:off x="4439645" y="3308254"/>
            <a:ext cx="4185819" cy="194667"/>
          </a:xfrm>
          <a:prstGeom prst="rect">
            <a:avLst/>
          </a:prstGeom>
          <a:noFill/>
          <a:ln/>
        </p:spPr>
        <p:txBody>
          <a:bodyPr wrap="none" lIns="0" tIns="0" rIns="0" bIns="0" rtlCol="0" anchor="t">
            <a:spAutoFit/>
          </a:bodyPr>
          <a:lstStyle/>
          <a:p>
            <a:pPr algn="l" indent="0" marL="0">
              <a:lnSpc>
                <a:spcPts val="1600"/>
              </a:lnSpc>
              <a:buNone/>
            </a:pPr>
            <a:r>
              <a:rPr lang="en-US" sz="1050" dirty="0">
                <a:solidFill>
                  <a:srgbClr val="333333"/>
                </a:solidFill>
              </a:rPr>
              <a:t>Their treatment of you does not define your value as a person.</a:t>
            </a:r>
            <a:endParaRPr lang="en-US" sz="1050" dirty="0"/>
          </a:p>
        </p:txBody>
      </p:sp>
      <p:sp>
        <p:nvSpPr>
          <p:cNvPr id="16" name="Text 12"/>
          <p:cNvSpPr/>
          <p:nvPr/>
        </p:nvSpPr>
        <p:spPr>
          <a:xfrm>
            <a:off x="4086225" y="3685087"/>
            <a:ext cx="185514" cy="171450"/>
          </a:xfrm>
          <a:prstGeom prst="rect">
            <a:avLst/>
          </a:prstGeom>
          <a:noFill/>
          <a:ln/>
        </p:spPr>
        <p:txBody>
          <a:bodyPr wrap="none" lIns="0" tIns="0" rIns="0" bIns="0" rtlCol="0" anchor="t">
            <a:spAutoFit/>
          </a:bodyPr>
          <a:lstStyle/>
          <a:p>
            <a:pPr algn="l" indent="0" marL="0">
              <a:lnSpc>
                <a:spcPts val="1400"/>
              </a:lnSpc>
              <a:buNone/>
            </a:pPr>
            <a:r>
              <a:rPr lang="en-US" sz="1269" i="1" dirty="0">
                <a:solidFill>
                  <a:srgbClr val="D4AF37"/>
                </a:solidFill>
              </a:rPr>
              <a:t>IV.</a:t>
            </a:r>
            <a:endParaRPr lang="en-US" sz="1269" dirty="0"/>
          </a:p>
        </p:txBody>
      </p:sp>
      <p:sp>
        <p:nvSpPr>
          <p:cNvPr id="17" name="Text 13"/>
          <p:cNvSpPr/>
          <p:nvPr/>
        </p:nvSpPr>
        <p:spPr>
          <a:xfrm>
            <a:off x="4414614" y="3685087"/>
            <a:ext cx="3429000" cy="220005"/>
          </a:xfrm>
          <a:prstGeom prst="rect">
            <a:avLst/>
          </a:prstGeom>
          <a:noFill/>
          <a:ln/>
        </p:spPr>
        <p:txBody>
          <a:bodyPr wrap="none" lIns="0" tIns="0" rIns="0" bIns="0" rtlCol="0" anchor="t">
            <a:spAutoFit/>
          </a:bodyPr>
          <a:lstStyle/>
          <a:p>
            <a:pPr algn="l" indent="0" marL="0">
              <a:lnSpc>
                <a:spcPts val="1700"/>
              </a:lnSpc>
              <a:buNone/>
            </a:pPr>
            <a:r>
              <a:rPr lang="en-US" sz="1090" b="1" dirty="0">
                <a:solidFill>
                  <a:srgbClr val="1A1A1A"/>
                </a:solidFill>
              </a:rPr>
              <a:t>Recovery is possible.</a:t>
            </a:r>
            <a:endParaRPr lang="en-US" sz="1090" dirty="0"/>
          </a:p>
        </p:txBody>
      </p:sp>
      <p:sp>
        <p:nvSpPr>
          <p:cNvPr id="18" name="Text 14"/>
          <p:cNvSpPr/>
          <p:nvPr/>
        </p:nvSpPr>
        <p:spPr>
          <a:xfrm>
            <a:off x="4414614" y="3935453"/>
            <a:ext cx="3429000" cy="194667"/>
          </a:xfrm>
          <a:prstGeom prst="rect">
            <a:avLst/>
          </a:prstGeom>
          <a:noFill/>
          <a:ln/>
        </p:spPr>
        <p:txBody>
          <a:bodyPr wrap="none" lIns="0" tIns="0" rIns="0" bIns="0" rtlCol="0" anchor="t">
            <a:spAutoFit/>
          </a:bodyPr>
          <a:lstStyle/>
          <a:p>
            <a:pPr algn="l" indent="0" marL="0">
              <a:lnSpc>
                <a:spcPts val="1600"/>
              </a:lnSpc>
              <a:buNone/>
            </a:pPr>
            <a:r>
              <a:rPr lang="en-US" sz="1050" dirty="0">
                <a:solidFill>
                  <a:srgbClr val="333333"/>
                </a:solidFill>
              </a:rPr>
              <a:t>With time, patience, and support, healing happens.</a:t>
            </a:r>
            <a:endParaRPr lang="en-US" sz="1050" dirty="0"/>
          </a:p>
        </p:txBody>
      </p:sp>
      <p:sp>
        <p:nvSpPr>
          <p:cNvPr id="19" name="Text 15"/>
          <p:cNvSpPr/>
          <p:nvPr/>
        </p:nvSpPr>
        <p:spPr>
          <a:xfrm>
            <a:off x="4086225" y="4312286"/>
            <a:ext cx="129983" cy="171450"/>
          </a:xfrm>
          <a:prstGeom prst="rect">
            <a:avLst/>
          </a:prstGeom>
          <a:noFill/>
          <a:ln/>
        </p:spPr>
        <p:txBody>
          <a:bodyPr wrap="none" lIns="0" tIns="0" rIns="0" bIns="0" rtlCol="0" anchor="t">
            <a:spAutoFit/>
          </a:bodyPr>
          <a:lstStyle/>
          <a:p>
            <a:pPr algn="l" indent="0" marL="0">
              <a:lnSpc>
                <a:spcPts val="1400"/>
              </a:lnSpc>
              <a:buNone/>
            </a:pPr>
            <a:r>
              <a:rPr lang="en-US" sz="1269" i="1" dirty="0">
                <a:solidFill>
                  <a:srgbClr val="D4AF37"/>
                </a:solidFill>
              </a:rPr>
              <a:t>V.</a:t>
            </a:r>
            <a:endParaRPr lang="en-US" sz="1269" dirty="0"/>
          </a:p>
        </p:txBody>
      </p:sp>
      <p:sp>
        <p:nvSpPr>
          <p:cNvPr id="20" name="Text 16"/>
          <p:cNvSpPr/>
          <p:nvPr/>
        </p:nvSpPr>
        <p:spPr>
          <a:xfrm>
            <a:off x="4359083" y="4312286"/>
            <a:ext cx="2884289" cy="220005"/>
          </a:xfrm>
          <a:prstGeom prst="rect">
            <a:avLst/>
          </a:prstGeom>
          <a:noFill/>
          <a:ln/>
        </p:spPr>
        <p:txBody>
          <a:bodyPr wrap="none" lIns="0" tIns="0" rIns="0" bIns="0" rtlCol="0" anchor="t">
            <a:spAutoFit/>
          </a:bodyPr>
          <a:lstStyle/>
          <a:p>
            <a:pPr algn="l" indent="0" marL="0">
              <a:lnSpc>
                <a:spcPts val="1700"/>
              </a:lnSpc>
              <a:buNone/>
            </a:pPr>
            <a:r>
              <a:rPr lang="en-US" sz="1090" b="1" dirty="0">
                <a:solidFill>
                  <a:srgbClr val="1A1A1A"/>
                </a:solidFill>
              </a:rPr>
              <a:t>You deserve love, respect, and kindness.</a:t>
            </a:r>
            <a:endParaRPr lang="en-US" sz="1090" dirty="0"/>
          </a:p>
        </p:txBody>
      </p:sp>
      <p:sp>
        <p:nvSpPr>
          <p:cNvPr id="21" name="Text 17"/>
          <p:cNvSpPr/>
          <p:nvPr/>
        </p:nvSpPr>
        <p:spPr>
          <a:xfrm>
            <a:off x="4359083" y="4562652"/>
            <a:ext cx="2439451" cy="194667"/>
          </a:xfrm>
          <a:prstGeom prst="rect">
            <a:avLst/>
          </a:prstGeom>
          <a:noFill/>
          <a:ln/>
        </p:spPr>
        <p:txBody>
          <a:bodyPr wrap="none" lIns="0" tIns="0" rIns="0" bIns="0" rtlCol="0" anchor="t">
            <a:spAutoFit/>
          </a:bodyPr>
          <a:lstStyle/>
          <a:p>
            <a:pPr algn="l" indent="0" marL="0">
              <a:lnSpc>
                <a:spcPts val="1600"/>
              </a:lnSpc>
              <a:buNone/>
            </a:pPr>
            <a:r>
              <a:rPr lang="en-US" sz="1050" dirty="0">
                <a:solidFill>
                  <a:srgbClr val="333333"/>
                </a:solidFill>
              </a:rPr>
              <a:t>This is not negotiable or conditional.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714375" y="571500"/>
            <a:ext cx="4629150" cy="4000500"/>
          </a:xfrm>
          <a:prstGeom prst="rect">
            <a:avLst/>
          </a:prstGeom>
          <a:solidFill>
            <a:srgbClr val="000000">
              <a:alpha val="0"/>
            </a:srgbClr>
          </a:solidFill>
          <a:ln/>
        </p:spPr>
      </p:sp>
      <p:sp>
        <p:nvSpPr>
          <p:cNvPr id="4" name="Shape 1"/>
          <p:cNvSpPr/>
          <p:nvPr/>
        </p:nvSpPr>
        <p:spPr>
          <a:xfrm>
            <a:off x="5336381" y="571500"/>
            <a:ext cx="7144" cy="4000500"/>
          </a:xfrm>
          <a:prstGeom prst="rect">
            <a:avLst/>
          </a:prstGeom>
          <a:solidFill>
            <a:srgbClr val="333333"/>
          </a:solidFill>
          <a:ln/>
        </p:spPr>
      </p:sp>
      <p:sp>
        <p:nvSpPr>
          <p:cNvPr id="5" name="Text 2"/>
          <p:cNvSpPr/>
          <p:nvPr/>
        </p:nvSpPr>
        <p:spPr>
          <a:xfrm>
            <a:off x="714375" y="1169622"/>
            <a:ext cx="4057650" cy="155377"/>
          </a:xfrm>
          <a:prstGeom prst="rect">
            <a:avLst/>
          </a:prstGeom>
          <a:noFill/>
          <a:ln/>
        </p:spPr>
        <p:txBody>
          <a:bodyPr wrap="none" lIns="0" tIns="0" rIns="0" bIns="0" rtlCol="0" anchor="t">
            <a:spAutoFit/>
          </a:bodyPr>
          <a:lstStyle/>
          <a:p>
            <a:pPr algn="l" indent="0" marL="0">
              <a:lnSpc>
                <a:spcPts val="1100"/>
              </a:lnSpc>
              <a:buNone/>
            </a:pPr>
            <a:r>
              <a:rPr lang="en-US" sz="784" b="1" spc="3" kern="0" dirty="0">
                <a:solidFill>
                  <a:srgbClr val="D4AF37"/>
                </a:solidFill>
              </a:rPr>
              <a:t>Conclusion</a:t>
            </a:r>
            <a:endParaRPr lang="en-US" sz="784" dirty="0"/>
          </a:p>
        </p:txBody>
      </p:sp>
      <p:sp>
        <p:nvSpPr>
          <p:cNvPr id="6" name="Text 3"/>
          <p:cNvSpPr/>
          <p:nvPr/>
        </p:nvSpPr>
        <p:spPr>
          <a:xfrm>
            <a:off x="714375" y="1539311"/>
            <a:ext cx="4057650" cy="1005818"/>
          </a:xfrm>
          <a:prstGeom prst="rect">
            <a:avLst/>
          </a:prstGeom>
          <a:noFill/>
          <a:ln/>
        </p:spPr>
        <p:txBody>
          <a:bodyPr wrap="square" lIns="0" tIns="0" rIns="0" bIns="0" rtlCol="0" anchor="t">
            <a:spAutoFit/>
          </a:bodyPr>
          <a:lstStyle/>
          <a:p>
            <a:pPr algn="l" indent="0" marL="0">
              <a:lnSpc>
                <a:spcPts val="4000"/>
              </a:lnSpc>
              <a:buNone/>
            </a:pPr>
            <a:r>
              <a:rPr lang="en-US" sz="3294" b="1" dirty="0">
                <a:solidFill>
                  <a:srgbClr val="FFFFFF"/>
                </a:solidFill>
              </a:rPr>
              <a:t>From Survival</a:t>
            </a:r>
            <a:pPr algn="l" indent="0" marL="0">
              <a:lnSpc>
                <a:spcPts val="4000"/>
              </a:lnSpc>
              <a:buNone/>
            </a:pPr>
            <a:r>
              <a:rPr lang="en-US" sz="3294" b="1" dirty="0">
                <a:solidFill>
                  <a:srgbClr val="FFFFFF"/>
                </a:solidFill>
              </a:rPr>
              <a:t>
</a:t>
            </a:r>
            <a:pPr algn="l" indent="0" marL="0">
              <a:lnSpc>
                <a:spcPts val="4000"/>
              </a:lnSpc>
              <a:buNone/>
            </a:pPr>
            <a:r>
              <a:rPr lang="en-US" sz="3294" b="1" dirty="0">
                <a:solidFill>
                  <a:srgbClr val="FFFFFF"/>
                </a:solidFill>
              </a:rPr>
              <a:t>to Healing</a:t>
            </a:r>
            <a:endParaRPr lang="en-US" sz="3294" dirty="0"/>
          </a:p>
        </p:txBody>
      </p:sp>
      <p:sp>
        <p:nvSpPr>
          <p:cNvPr id="7" name="Text 4"/>
          <p:cNvSpPr/>
          <p:nvPr/>
        </p:nvSpPr>
        <p:spPr>
          <a:xfrm>
            <a:off x="714375" y="2830878"/>
            <a:ext cx="3651879" cy="1143000"/>
          </a:xfrm>
          <a:prstGeom prst="rect">
            <a:avLst/>
          </a:prstGeom>
          <a:noFill/>
          <a:ln/>
        </p:spPr>
        <p:txBody>
          <a:bodyPr wrap="square" lIns="0" tIns="0" rIns="0" bIns="0" rtlCol="0" anchor="t">
            <a:spAutoFit/>
          </a:bodyPr>
          <a:lstStyle/>
          <a:p>
            <a:pPr algn="l" indent="0" marL="0">
              <a:lnSpc>
                <a:spcPts val="1800"/>
              </a:lnSpc>
              <a:buNone/>
            </a:pPr>
            <a:r>
              <a:rPr lang="en-US" sz="1050" dirty="0">
                <a:solidFill>
                  <a:srgbClr val="CCCCCC"/>
                </a:solidFill>
              </a:rPr>
              <a:t>The discard phase is painful, but it can also be the beginning of profound personal growth and freedom. You have the strength to move through this and emerge stronger. Your recovery is not only possible—it's already beginning.</a:t>
            </a:r>
            <a:endParaRPr lang="en-US" sz="1050" dirty="0"/>
          </a:p>
        </p:txBody>
      </p:sp>
      <p:sp>
        <p:nvSpPr>
          <p:cNvPr id="8" name="Text 5"/>
          <p:cNvSpPr/>
          <p:nvPr/>
        </p:nvSpPr>
        <p:spPr>
          <a:xfrm>
            <a:off x="5915025" y="1454646"/>
            <a:ext cx="2514600"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D4AF37"/>
                </a:solidFill>
              </a:rPr>
              <a:t>Next Steps</a:t>
            </a:r>
            <a:endParaRPr lang="en-US" sz="1602" dirty="0"/>
          </a:p>
        </p:txBody>
      </p:sp>
      <p:sp>
        <p:nvSpPr>
          <p:cNvPr id="9" name="Text 6"/>
          <p:cNvSpPr/>
          <p:nvPr/>
        </p:nvSpPr>
        <p:spPr>
          <a:xfrm>
            <a:off x="5915025" y="2052935"/>
            <a:ext cx="2514600" cy="153591"/>
          </a:xfrm>
          <a:prstGeom prst="rect">
            <a:avLst/>
          </a:prstGeom>
          <a:noFill/>
          <a:ln/>
        </p:spPr>
        <p:txBody>
          <a:bodyPr wrap="none" lIns="0" tIns="0" rIns="0" bIns="0" rtlCol="0" anchor="t">
            <a:spAutoFit/>
          </a:bodyPr>
          <a:lstStyle/>
          <a:p>
            <a:pPr algn="l" indent="0" marL="0">
              <a:lnSpc>
                <a:spcPts val="1200"/>
              </a:lnSpc>
              <a:buNone/>
            </a:pPr>
            <a:r>
              <a:rPr lang="en-US" sz="942" dirty="0">
                <a:solidFill>
                  <a:srgbClr val="FFFFFF"/>
                </a:solidFill>
              </a:rPr>
              <a:t>Save crisis resources in your phone</a:t>
            </a:r>
            <a:endParaRPr lang="en-US" sz="942" dirty="0"/>
          </a:p>
        </p:txBody>
      </p:sp>
      <p:sp>
        <p:nvSpPr>
          <p:cNvPr id="10" name="Text 7"/>
          <p:cNvSpPr/>
          <p:nvPr/>
        </p:nvSpPr>
        <p:spPr>
          <a:xfrm>
            <a:off x="5915025" y="2385120"/>
            <a:ext cx="2514600" cy="307181"/>
          </a:xfrm>
          <a:prstGeom prst="rect">
            <a:avLst/>
          </a:prstGeom>
          <a:noFill/>
          <a:ln/>
        </p:spPr>
        <p:txBody>
          <a:bodyPr wrap="square" lIns="0" tIns="0" rIns="0" bIns="0" rtlCol="0" anchor="t">
            <a:spAutoFit/>
          </a:bodyPr>
          <a:lstStyle/>
          <a:p>
            <a:pPr algn="l" indent="0" marL="0">
              <a:lnSpc>
                <a:spcPts val="1200"/>
              </a:lnSpc>
              <a:buNone/>
            </a:pPr>
            <a:r>
              <a:rPr lang="en-US" sz="942" dirty="0">
                <a:solidFill>
                  <a:srgbClr val="FFFFFF"/>
                </a:solidFill>
              </a:rPr>
              <a:t>Reach out to one trusted person today</a:t>
            </a:r>
            <a:endParaRPr lang="en-US" sz="942" dirty="0"/>
          </a:p>
        </p:txBody>
      </p:sp>
      <p:sp>
        <p:nvSpPr>
          <p:cNvPr id="11" name="Text 8"/>
          <p:cNvSpPr/>
          <p:nvPr/>
        </p:nvSpPr>
        <p:spPr>
          <a:xfrm>
            <a:off x="5915025" y="2870895"/>
            <a:ext cx="2514600" cy="153591"/>
          </a:xfrm>
          <a:prstGeom prst="rect">
            <a:avLst/>
          </a:prstGeom>
          <a:noFill/>
          <a:ln/>
        </p:spPr>
        <p:txBody>
          <a:bodyPr wrap="none" lIns="0" tIns="0" rIns="0" bIns="0" rtlCol="0" anchor="t">
            <a:spAutoFit/>
          </a:bodyPr>
          <a:lstStyle/>
          <a:p>
            <a:pPr algn="l" indent="0" marL="0">
              <a:lnSpc>
                <a:spcPts val="1200"/>
              </a:lnSpc>
              <a:buNone/>
            </a:pPr>
            <a:r>
              <a:rPr lang="en-US" sz="942" dirty="0">
                <a:solidFill>
                  <a:srgbClr val="FFFFFF"/>
                </a:solidFill>
              </a:rPr>
              <a:t>Consider scheduling a consultation</a:t>
            </a:r>
            <a:endParaRPr lang="en-US" sz="942" dirty="0"/>
          </a:p>
        </p:txBody>
      </p:sp>
      <p:sp>
        <p:nvSpPr>
          <p:cNvPr id="12" name="Text 9"/>
          <p:cNvSpPr/>
          <p:nvPr/>
        </p:nvSpPr>
        <p:spPr>
          <a:xfrm>
            <a:off x="5915025" y="3203079"/>
            <a:ext cx="2514600" cy="307181"/>
          </a:xfrm>
          <a:prstGeom prst="rect">
            <a:avLst/>
          </a:prstGeom>
          <a:noFill/>
          <a:ln/>
        </p:spPr>
        <p:txBody>
          <a:bodyPr wrap="square" lIns="0" tIns="0" rIns="0" bIns="0" rtlCol="0" anchor="t">
            <a:spAutoFit/>
          </a:bodyPr>
          <a:lstStyle/>
          <a:p>
            <a:pPr algn="l" indent="0" marL="0">
              <a:lnSpc>
                <a:spcPts val="1200"/>
              </a:lnSpc>
              <a:buNone/>
            </a:pPr>
            <a:r>
              <a:rPr lang="en-US" sz="942" dirty="0">
                <a:solidFill>
                  <a:srgbClr val="FFFFFF"/>
                </a:solidFill>
              </a:rPr>
              <a:t>Be patient and compassionate with yourself</a:t>
            </a:r>
            <a:endParaRPr lang="en-US" sz="942" dirty="0"/>
          </a:p>
        </p:txBody>
      </p:sp>
      <p:sp>
        <p:nvSpPr>
          <p:cNvPr id="13" name="Shape 10"/>
          <p:cNvSpPr/>
          <p:nvPr/>
        </p:nvSpPr>
        <p:spPr>
          <a:xfrm>
            <a:off x="714375" y="4663083"/>
            <a:ext cx="7715250" cy="266105"/>
          </a:xfrm>
          <a:prstGeom prst="rect">
            <a:avLst/>
          </a:prstGeom>
          <a:solidFill>
            <a:srgbClr val="000000">
              <a:alpha val="0"/>
            </a:srgbClr>
          </a:solidFill>
          <a:ln/>
        </p:spPr>
      </p:sp>
      <p:sp>
        <p:nvSpPr>
          <p:cNvPr id="14" name="Shape 11"/>
          <p:cNvSpPr/>
          <p:nvPr/>
        </p:nvSpPr>
        <p:spPr>
          <a:xfrm>
            <a:off x="714375" y="4663083"/>
            <a:ext cx="7715250" cy="7144"/>
          </a:xfrm>
          <a:prstGeom prst="rect">
            <a:avLst/>
          </a:prstGeom>
          <a:solidFill>
            <a:srgbClr val="222222"/>
          </a:solidFill>
          <a:ln/>
        </p:spPr>
      </p:sp>
      <p:sp>
        <p:nvSpPr>
          <p:cNvPr id="15" name="Text 12"/>
          <p:cNvSpPr/>
          <p:nvPr/>
        </p:nvSpPr>
        <p:spPr>
          <a:xfrm>
            <a:off x="714375" y="4663083"/>
            <a:ext cx="7715250" cy="266105"/>
          </a:xfrm>
          <a:prstGeom prst="rect">
            <a:avLst/>
          </a:prstGeom>
          <a:noFill/>
          <a:ln/>
        </p:spPr>
        <p:txBody>
          <a:bodyPr wrap="square" lIns="0" tIns="170053" rIns="0" bIns="0" rtlCol="0" anchor="t">
            <a:spAutoFit/>
          </a:bodyPr>
          <a:lstStyle/>
          <a:p>
            <a:pPr algn="ctr" indent="0" marL="0">
              <a:lnSpc>
                <a:spcPts val="800"/>
              </a:lnSpc>
              <a:buNone/>
            </a:pPr>
            <a:r>
              <a:rPr lang="en-US" sz="621" dirty="0">
                <a:solidFill>
                  <a:srgbClr val="555555"/>
                </a:solidFill>
              </a:rPr>
              <a:t>*This guide is for educational purposes. If you're in immediate danger, contact emergency services or domestic violence resources.*</a:t>
            </a:r>
            <a:endParaRPr lang="en-US" sz="62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2025-12-11T14:05:28Z</dcterms:created>
  <dcterms:modified xsi:type="dcterms:W3CDTF">2025-12-11T14:05:28Z</dcterms:modified>
</cp:coreProperties>
</file>